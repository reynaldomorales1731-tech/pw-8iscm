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4660"/>
  </p:normalViewPr>
  <p:slideViewPr>
    <p:cSldViewPr snapToGrid="0">
      <p:cViewPr varScale="1">
        <p:scale>
          <a:sx n="68" d="100"/>
          <a:sy n="68" d="100"/>
        </p:scale>
        <p:origin x="816"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a de título">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p:txBody>
          <a:bodyPr/>
          <a:lstStyle/>
          <a:p>
            <a:fld id="{23BADDEC-C4F8-4C90-8CE2-E9707052C874}" type="datetimeFigureOut">
              <a:rPr lang="es-MX" smtClean="0"/>
              <a:t>11/06/2026</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3DE92602-C1DA-4064-A1D2-87E04F25BBE9}" type="slidenum">
              <a:rPr lang="es-MX" smtClean="0"/>
              <a:t>‹Nº›</a:t>
            </a:fld>
            <a:endParaRPr lang="es-MX"/>
          </a:p>
        </p:txBody>
      </p:sp>
    </p:spTree>
    <p:extLst>
      <p:ext uri="{BB962C8B-B14F-4D97-AF65-F5344CB8AC3E}">
        <p14:creationId xmlns:p14="http://schemas.microsoft.com/office/powerpoint/2010/main" val="38900937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s-ES"/>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23BADDEC-C4F8-4C90-8CE2-E9707052C874}" type="datetimeFigureOut">
              <a:rPr lang="es-MX" smtClean="0"/>
              <a:t>11/06/2026</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3DE92602-C1DA-4064-A1D2-87E04F25BBE9}" type="slidenum">
              <a:rPr lang="es-MX" smtClean="0"/>
              <a:t>‹Nº›</a:t>
            </a:fld>
            <a:endParaRPr lang="es-MX"/>
          </a:p>
        </p:txBody>
      </p:sp>
    </p:spTree>
    <p:extLst>
      <p:ext uri="{BB962C8B-B14F-4D97-AF65-F5344CB8AC3E}">
        <p14:creationId xmlns:p14="http://schemas.microsoft.com/office/powerpoint/2010/main" val="19356062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23BADDEC-C4F8-4C90-8CE2-E9707052C874}" type="datetimeFigureOut">
              <a:rPr lang="es-MX" smtClean="0"/>
              <a:t>11/06/2026</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3DE92602-C1DA-4064-A1D2-87E04F25BBE9}" type="slidenum">
              <a:rPr lang="es-MX" smtClean="0"/>
              <a:t>‹Nº›</a:t>
            </a:fld>
            <a:endParaRPr lang="es-MX"/>
          </a:p>
        </p:txBody>
      </p:sp>
    </p:spTree>
    <p:extLst>
      <p:ext uri="{BB962C8B-B14F-4D97-AF65-F5344CB8AC3E}">
        <p14:creationId xmlns:p14="http://schemas.microsoft.com/office/powerpoint/2010/main" val="7513778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23BADDEC-C4F8-4C90-8CE2-E9707052C874}" type="datetimeFigureOut">
              <a:rPr lang="es-MX" smtClean="0"/>
              <a:t>11/06/2026</a:t>
            </a:fld>
            <a:endParaRPr lang="es-MX"/>
          </a:p>
        </p:txBody>
      </p:sp>
      <p:sp>
        <p:nvSpPr>
          <p:cNvPr id="6" name="Footer Placeholder 5"/>
          <p:cNvSpPr>
            <a:spLocks noGrp="1"/>
          </p:cNvSpPr>
          <p:nvPr>
            <p:ph type="ftr" sz="quarter" idx="11"/>
          </p:nvPr>
        </p:nvSpPr>
        <p:spPr/>
        <p:txBody>
          <a:bodyPr/>
          <a:lstStyle/>
          <a:p>
            <a:endParaRPr lang="es-MX"/>
          </a:p>
        </p:txBody>
      </p:sp>
      <p:sp>
        <p:nvSpPr>
          <p:cNvPr id="7" name="Slide Number Placeholder 6"/>
          <p:cNvSpPr>
            <a:spLocks noGrp="1"/>
          </p:cNvSpPr>
          <p:nvPr>
            <p:ph type="sldNum" sz="quarter" idx="12"/>
          </p:nvPr>
        </p:nvSpPr>
        <p:spPr/>
        <p:txBody>
          <a:bodyPr/>
          <a:lstStyle/>
          <a:p>
            <a:fld id="{3DE92602-C1DA-4064-A1D2-87E04F25BBE9}" type="slidenum">
              <a:rPr lang="es-MX" smtClean="0"/>
              <a:t>‹Nº›</a:t>
            </a:fld>
            <a:endParaRPr lang="es-MX"/>
          </a:p>
        </p:txBody>
      </p:sp>
    </p:spTree>
    <p:extLst>
      <p:ext uri="{BB962C8B-B14F-4D97-AF65-F5344CB8AC3E}">
        <p14:creationId xmlns:p14="http://schemas.microsoft.com/office/powerpoint/2010/main" val="8659256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23BADDEC-C4F8-4C90-8CE2-E9707052C874}" type="datetimeFigureOut">
              <a:rPr lang="es-MX" smtClean="0"/>
              <a:t>11/06/2026</a:t>
            </a:fld>
            <a:endParaRPr lang="es-MX"/>
          </a:p>
        </p:txBody>
      </p:sp>
      <p:sp>
        <p:nvSpPr>
          <p:cNvPr id="8" name="Footer Placeholder 7"/>
          <p:cNvSpPr>
            <a:spLocks noGrp="1"/>
          </p:cNvSpPr>
          <p:nvPr>
            <p:ph type="ftr" sz="quarter" idx="11"/>
          </p:nvPr>
        </p:nvSpPr>
        <p:spPr/>
        <p:txBody>
          <a:bodyPr/>
          <a:lstStyle/>
          <a:p>
            <a:endParaRPr lang="es-MX"/>
          </a:p>
        </p:txBody>
      </p:sp>
      <p:sp>
        <p:nvSpPr>
          <p:cNvPr id="9" name="Slide Number Placeholder 8"/>
          <p:cNvSpPr>
            <a:spLocks noGrp="1"/>
          </p:cNvSpPr>
          <p:nvPr>
            <p:ph type="sldNum" sz="quarter" idx="12"/>
          </p:nvPr>
        </p:nvSpPr>
        <p:spPr/>
        <p:txBody>
          <a:bodyPr/>
          <a:lstStyle/>
          <a:p>
            <a:fld id="{3DE92602-C1DA-4064-A1D2-87E04F25BBE9}" type="slidenum">
              <a:rPr lang="es-MX" smtClean="0"/>
              <a:t>‹Nº›</a:t>
            </a:fld>
            <a:endParaRPr lang="es-MX"/>
          </a:p>
        </p:txBody>
      </p:sp>
    </p:spTree>
    <p:extLst>
      <p:ext uri="{BB962C8B-B14F-4D97-AF65-F5344CB8AC3E}">
        <p14:creationId xmlns:p14="http://schemas.microsoft.com/office/powerpoint/2010/main" val="202776682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23BADDEC-C4F8-4C90-8CE2-E9707052C874}" type="datetimeFigureOut">
              <a:rPr lang="es-MX" smtClean="0"/>
              <a:t>11/06/2026</a:t>
            </a:fld>
            <a:endParaRPr lang="es-MX"/>
          </a:p>
        </p:txBody>
      </p:sp>
      <p:sp>
        <p:nvSpPr>
          <p:cNvPr id="4" name="Footer Placeholder 3"/>
          <p:cNvSpPr>
            <a:spLocks noGrp="1"/>
          </p:cNvSpPr>
          <p:nvPr>
            <p:ph type="ftr" sz="quarter" idx="11"/>
          </p:nvPr>
        </p:nvSpPr>
        <p:spPr/>
        <p:txBody>
          <a:bodyPr/>
          <a:lstStyle/>
          <a:p>
            <a:endParaRPr lang="es-MX"/>
          </a:p>
        </p:txBody>
      </p:sp>
      <p:sp>
        <p:nvSpPr>
          <p:cNvPr id="5" name="Slide Number Placeholder 4"/>
          <p:cNvSpPr>
            <a:spLocks noGrp="1"/>
          </p:cNvSpPr>
          <p:nvPr>
            <p:ph type="sldNum" sz="quarter" idx="12"/>
          </p:nvPr>
        </p:nvSpPr>
        <p:spPr/>
        <p:txBody>
          <a:bodyPr/>
          <a:lstStyle/>
          <a:p>
            <a:fld id="{3DE92602-C1DA-4064-A1D2-87E04F25BBE9}" type="slidenum">
              <a:rPr lang="es-MX" smtClean="0"/>
              <a:t>‹Nº›</a:t>
            </a:fld>
            <a:endParaRPr lang="es-MX"/>
          </a:p>
        </p:txBody>
      </p:sp>
    </p:spTree>
    <p:extLst>
      <p:ext uri="{BB962C8B-B14F-4D97-AF65-F5344CB8AC3E}">
        <p14:creationId xmlns:p14="http://schemas.microsoft.com/office/powerpoint/2010/main" val="29040296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3BADDEC-C4F8-4C90-8CE2-E9707052C874}" type="datetimeFigureOut">
              <a:rPr lang="es-MX" smtClean="0"/>
              <a:t>11/06/2026</a:t>
            </a:fld>
            <a:endParaRPr lang="es-MX"/>
          </a:p>
        </p:txBody>
      </p:sp>
      <p:sp>
        <p:nvSpPr>
          <p:cNvPr id="3" name="Footer Placeholder 2"/>
          <p:cNvSpPr>
            <a:spLocks noGrp="1"/>
          </p:cNvSpPr>
          <p:nvPr>
            <p:ph type="ftr" sz="quarter" idx="11"/>
          </p:nvPr>
        </p:nvSpPr>
        <p:spPr/>
        <p:txBody>
          <a:bodyPr/>
          <a:lstStyle/>
          <a:p>
            <a:endParaRPr lang="es-MX"/>
          </a:p>
        </p:txBody>
      </p:sp>
      <p:sp>
        <p:nvSpPr>
          <p:cNvPr id="4" name="Slide Number Placeholder 3"/>
          <p:cNvSpPr>
            <a:spLocks noGrp="1"/>
          </p:cNvSpPr>
          <p:nvPr>
            <p:ph type="sldNum" sz="quarter" idx="12"/>
          </p:nvPr>
        </p:nvSpPr>
        <p:spPr/>
        <p:txBody>
          <a:bodyPr/>
          <a:lstStyle/>
          <a:p>
            <a:fld id="{3DE92602-C1DA-4064-A1D2-87E04F25BBE9}" type="slidenum">
              <a:rPr lang="es-MX" smtClean="0"/>
              <a:t>‹Nº›</a:t>
            </a:fld>
            <a:endParaRPr lang="es-MX"/>
          </a:p>
        </p:txBody>
      </p:sp>
    </p:spTree>
    <p:extLst>
      <p:ext uri="{BB962C8B-B14F-4D97-AF65-F5344CB8AC3E}">
        <p14:creationId xmlns:p14="http://schemas.microsoft.com/office/powerpoint/2010/main" val="138351099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s-ES"/>
              <a:t>Haga clic para modificar el estilo de título del patrón</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23BADDEC-C4F8-4C90-8CE2-E9707052C874}" type="datetimeFigureOut">
              <a:rPr lang="es-MX" smtClean="0"/>
              <a:t>11/06/2026</a:t>
            </a:fld>
            <a:endParaRPr lang="es-MX"/>
          </a:p>
        </p:txBody>
      </p:sp>
      <p:sp>
        <p:nvSpPr>
          <p:cNvPr id="6" name="Footer Placeholder 5"/>
          <p:cNvSpPr>
            <a:spLocks noGrp="1"/>
          </p:cNvSpPr>
          <p:nvPr>
            <p:ph type="ftr" sz="quarter" idx="11"/>
          </p:nvPr>
        </p:nvSpPr>
        <p:spPr/>
        <p:txBody>
          <a:bodyPr/>
          <a:lstStyle/>
          <a:p>
            <a:endParaRPr lang="es-MX"/>
          </a:p>
        </p:txBody>
      </p:sp>
      <p:sp>
        <p:nvSpPr>
          <p:cNvPr id="7" name="Slide Number Placeholder 6"/>
          <p:cNvSpPr>
            <a:spLocks noGrp="1"/>
          </p:cNvSpPr>
          <p:nvPr>
            <p:ph type="sldNum" sz="quarter" idx="12"/>
          </p:nvPr>
        </p:nvSpPr>
        <p:spPr/>
        <p:txBody>
          <a:bodyPr/>
          <a:lstStyle/>
          <a:p>
            <a:fld id="{3DE92602-C1DA-4064-A1D2-87E04F25BBE9}" type="slidenum">
              <a:rPr lang="es-MX" smtClean="0"/>
              <a:t>‹Nº›</a:t>
            </a:fld>
            <a:endParaRPr lang="es-MX"/>
          </a:p>
        </p:txBody>
      </p:sp>
    </p:spTree>
    <p:extLst>
      <p:ext uri="{BB962C8B-B14F-4D97-AF65-F5344CB8AC3E}">
        <p14:creationId xmlns:p14="http://schemas.microsoft.com/office/powerpoint/2010/main" val="215893267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23BADDEC-C4F8-4C90-8CE2-E9707052C874}" type="datetimeFigureOut">
              <a:rPr lang="es-MX" smtClean="0"/>
              <a:t>11/06/2026</a:t>
            </a:fld>
            <a:endParaRPr lang="es-MX"/>
          </a:p>
        </p:txBody>
      </p:sp>
      <p:sp>
        <p:nvSpPr>
          <p:cNvPr id="6" name="Footer Placeholder 5"/>
          <p:cNvSpPr>
            <a:spLocks noGrp="1"/>
          </p:cNvSpPr>
          <p:nvPr>
            <p:ph type="ftr" sz="quarter" idx="11"/>
          </p:nvPr>
        </p:nvSpPr>
        <p:spPr/>
        <p:txBody>
          <a:bodyPr/>
          <a:lstStyle/>
          <a:p>
            <a:endParaRPr lang="es-MX"/>
          </a:p>
        </p:txBody>
      </p:sp>
      <p:sp>
        <p:nvSpPr>
          <p:cNvPr id="7" name="Slide Number Placeholder 6"/>
          <p:cNvSpPr>
            <a:spLocks noGrp="1"/>
          </p:cNvSpPr>
          <p:nvPr>
            <p:ph type="sldNum" sz="quarter" idx="12"/>
          </p:nvPr>
        </p:nvSpPr>
        <p:spPr/>
        <p:txBody>
          <a:bodyPr/>
          <a:lstStyle/>
          <a:p>
            <a:fld id="{3DE92602-C1DA-4064-A1D2-87E04F25BBE9}" type="slidenum">
              <a:rPr lang="es-MX" smtClean="0"/>
              <a:t>‹Nº›</a:t>
            </a:fld>
            <a:endParaRPr lang="es-MX"/>
          </a:p>
        </p:txBody>
      </p:sp>
    </p:spTree>
    <p:extLst>
      <p:ext uri="{BB962C8B-B14F-4D97-AF65-F5344CB8AC3E}">
        <p14:creationId xmlns:p14="http://schemas.microsoft.com/office/powerpoint/2010/main" val="45514787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ítulo y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23BADDEC-C4F8-4C90-8CE2-E9707052C874}" type="datetimeFigureOut">
              <a:rPr lang="es-MX" smtClean="0"/>
              <a:t>11/06/2026</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3DE92602-C1DA-4064-A1D2-87E04F25BBE9}" type="slidenum">
              <a:rPr lang="es-MX" smtClean="0"/>
              <a:t>‹Nº›</a:t>
            </a:fld>
            <a:endParaRPr lang="es-MX"/>
          </a:p>
        </p:txBody>
      </p:sp>
    </p:spTree>
    <p:extLst>
      <p:ext uri="{BB962C8B-B14F-4D97-AF65-F5344CB8AC3E}">
        <p14:creationId xmlns:p14="http://schemas.microsoft.com/office/powerpoint/2010/main" val="7515305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ita con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s-ES"/>
              <a:t>Haga clic para modificar el estilo de título del patrón</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a:t>Haga clic para modificar los estilos de texto del patrón</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23BADDEC-C4F8-4C90-8CE2-E9707052C874}" type="datetimeFigureOut">
              <a:rPr lang="es-MX" smtClean="0"/>
              <a:t>11/06/2026</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3DE92602-C1DA-4064-A1D2-87E04F25BBE9}" type="slidenum">
              <a:rPr lang="es-MX" smtClean="0"/>
              <a:t>‹Nº›</a:t>
            </a:fld>
            <a:endParaRPr lang="es-MX"/>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404623119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arjeta de nombre">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23BADDEC-C4F8-4C90-8CE2-E9707052C874}" type="datetimeFigureOut">
              <a:rPr lang="es-MX" smtClean="0"/>
              <a:t>11/06/2026</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3DE92602-C1DA-4064-A1D2-87E04F25BBE9}" type="slidenum">
              <a:rPr lang="es-MX" smtClean="0"/>
              <a:t>‹Nº›</a:t>
            </a:fld>
            <a:endParaRPr lang="es-MX"/>
          </a:p>
        </p:txBody>
      </p:sp>
    </p:spTree>
    <p:extLst>
      <p:ext uri="{BB962C8B-B14F-4D97-AF65-F5344CB8AC3E}">
        <p14:creationId xmlns:p14="http://schemas.microsoft.com/office/powerpoint/2010/main" val="347559096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itar la tarjeta de nombre">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s-ES"/>
              <a:t>Haga clic para modificar el estilo de título del patrón</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a:t>Haga clic para modificar los estilos de texto del patrón</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23BADDEC-C4F8-4C90-8CE2-E9707052C874}" type="datetimeFigureOut">
              <a:rPr lang="es-MX" smtClean="0"/>
              <a:t>11/06/2026</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3DE92602-C1DA-4064-A1D2-87E04F25BBE9}" type="slidenum">
              <a:rPr lang="es-MX" smtClean="0"/>
              <a:t>‹Nº›</a:t>
            </a:fld>
            <a:endParaRPr lang="es-MX"/>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21595166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Verdadero o falso">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s-ES"/>
              <a:t>Haga clic para modificar el estilo de título del patrón</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a:t>Haga clic para modificar los estilos de texto del patrón</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23BADDEC-C4F8-4C90-8CE2-E9707052C874}" type="datetimeFigureOut">
              <a:rPr lang="es-MX" smtClean="0"/>
              <a:t>11/06/2026</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3DE92602-C1DA-4064-A1D2-87E04F25BBE9}" type="slidenum">
              <a:rPr lang="es-MX" smtClean="0"/>
              <a:t>‹Nº›</a:t>
            </a:fld>
            <a:endParaRPr lang="es-MX"/>
          </a:p>
        </p:txBody>
      </p:sp>
    </p:spTree>
    <p:extLst>
      <p:ext uri="{BB962C8B-B14F-4D97-AF65-F5344CB8AC3E}">
        <p14:creationId xmlns:p14="http://schemas.microsoft.com/office/powerpoint/2010/main" val="269214383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23BADDEC-C4F8-4C90-8CE2-E9707052C874}" type="datetimeFigureOut">
              <a:rPr lang="es-MX" smtClean="0"/>
              <a:t>11/06/2026</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3DE92602-C1DA-4064-A1D2-87E04F25BBE9}" type="slidenum">
              <a:rPr lang="es-MX" smtClean="0"/>
              <a:t>‹Nº›</a:t>
            </a:fld>
            <a:endParaRPr lang="es-MX"/>
          </a:p>
        </p:txBody>
      </p:sp>
    </p:spTree>
    <p:extLst>
      <p:ext uri="{BB962C8B-B14F-4D97-AF65-F5344CB8AC3E}">
        <p14:creationId xmlns:p14="http://schemas.microsoft.com/office/powerpoint/2010/main" val="228557269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23BADDEC-C4F8-4C90-8CE2-E9707052C874}" type="datetimeFigureOut">
              <a:rPr lang="es-MX" smtClean="0"/>
              <a:t>11/06/2026</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3DE92602-C1DA-4064-A1D2-87E04F25BBE9}" type="slidenum">
              <a:rPr lang="es-MX" smtClean="0"/>
              <a:t>‹Nº›</a:t>
            </a:fld>
            <a:endParaRPr lang="es-MX"/>
          </a:p>
        </p:txBody>
      </p:sp>
    </p:spTree>
    <p:extLst>
      <p:ext uri="{BB962C8B-B14F-4D97-AF65-F5344CB8AC3E}">
        <p14:creationId xmlns:p14="http://schemas.microsoft.com/office/powerpoint/2010/main" val="32425000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23BADDEC-C4F8-4C90-8CE2-E9707052C874}" type="datetimeFigureOut">
              <a:rPr lang="es-MX" smtClean="0"/>
              <a:t>11/06/2026</a:t>
            </a:fld>
            <a:endParaRPr lang="es-MX"/>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s-MX"/>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3DE92602-C1DA-4064-A1D2-87E04F25BBE9}" type="slidenum">
              <a:rPr lang="es-MX" smtClean="0"/>
              <a:t>‹Nº›</a:t>
            </a:fld>
            <a:endParaRPr lang="es-MX"/>
          </a:p>
        </p:txBody>
      </p:sp>
    </p:spTree>
    <p:extLst>
      <p:ext uri="{BB962C8B-B14F-4D97-AF65-F5344CB8AC3E}">
        <p14:creationId xmlns:p14="http://schemas.microsoft.com/office/powerpoint/2010/main" val="182826490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hyperlink" Target="https://github.com/reynaldomorales1731-tech/PW-ISC8M.git"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descr="Imagen que contiene Logotipo&#10;&#10;El contenido generado por IA puede ser incorrecto.">
            <a:extLst>
              <a:ext uri="{FF2B5EF4-FFF2-40B4-BE49-F238E27FC236}">
                <a16:creationId xmlns:a16="http://schemas.microsoft.com/office/drawing/2014/main" id="{96359056-B9B4-A554-FCB9-C1CBB6EBA65C}"/>
              </a:ext>
            </a:extLst>
          </p:cNvPr>
          <p:cNvPicPr>
            <a:picLocks noChangeAspect="1"/>
          </p:cNvPicPr>
          <p:nvPr/>
        </p:nvPicPr>
        <p:blipFill>
          <a:blip r:embed="rId2"/>
          <a:stretch>
            <a:fillRect/>
          </a:stretch>
        </p:blipFill>
        <p:spPr>
          <a:xfrm>
            <a:off x="694785" y="735222"/>
            <a:ext cx="3700014" cy="1131858"/>
          </a:xfrm>
          <a:prstGeom prst="rect">
            <a:avLst/>
          </a:prstGeom>
        </p:spPr>
      </p:pic>
      <p:pic>
        <p:nvPicPr>
          <p:cNvPr id="7" name="Imagen 6" descr="Logotipo, nombre de la empresa&#10;&#10;El contenido generado por IA puede ser incorrecto.">
            <a:extLst>
              <a:ext uri="{FF2B5EF4-FFF2-40B4-BE49-F238E27FC236}">
                <a16:creationId xmlns:a16="http://schemas.microsoft.com/office/drawing/2014/main" id="{BB06CBD3-98E7-6F97-B1B5-F1C059FDABDE}"/>
              </a:ext>
            </a:extLst>
          </p:cNvPr>
          <p:cNvPicPr>
            <a:picLocks noChangeAspect="1"/>
          </p:cNvPicPr>
          <p:nvPr/>
        </p:nvPicPr>
        <p:blipFill>
          <a:blip r:embed="rId3"/>
          <a:stretch>
            <a:fillRect/>
          </a:stretch>
        </p:blipFill>
        <p:spPr>
          <a:xfrm>
            <a:off x="5401753" y="821486"/>
            <a:ext cx="2265513" cy="959330"/>
          </a:xfrm>
          <a:prstGeom prst="rect">
            <a:avLst/>
          </a:prstGeom>
        </p:spPr>
      </p:pic>
      <p:pic>
        <p:nvPicPr>
          <p:cNvPr id="9" name="Imagen 8" descr="Diagrama&#10;&#10;El contenido generado por IA puede ser incorrecto.">
            <a:extLst>
              <a:ext uri="{FF2B5EF4-FFF2-40B4-BE49-F238E27FC236}">
                <a16:creationId xmlns:a16="http://schemas.microsoft.com/office/drawing/2014/main" id="{D4495AE7-21F1-E043-8768-49263D3D20B7}"/>
              </a:ext>
            </a:extLst>
          </p:cNvPr>
          <p:cNvPicPr>
            <a:picLocks noChangeAspect="1"/>
          </p:cNvPicPr>
          <p:nvPr/>
        </p:nvPicPr>
        <p:blipFill>
          <a:blip r:embed="rId4"/>
          <a:stretch>
            <a:fillRect/>
          </a:stretch>
        </p:blipFill>
        <p:spPr>
          <a:xfrm>
            <a:off x="9308172" y="754002"/>
            <a:ext cx="1396941" cy="950524"/>
          </a:xfrm>
          <a:prstGeom prst="rect">
            <a:avLst/>
          </a:prstGeom>
        </p:spPr>
      </p:pic>
      <p:sp>
        <p:nvSpPr>
          <p:cNvPr id="11" name="CuadroTexto 10">
            <a:extLst>
              <a:ext uri="{FF2B5EF4-FFF2-40B4-BE49-F238E27FC236}">
                <a16:creationId xmlns:a16="http://schemas.microsoft.com/office/drawing/2014/main" id="{D66EA505-AFC2-E3AB-4CDC-D5A3CFDCFC76}"/>
              </a:ext>
            </a:extLst>
          </p:cNvPr>
          <p:cNvSpPr txBox="1"/>
          <p:nvPr/>
        </p:nvSpPr>
        <p:spPr>
          <a:xfrm>
            <a:off x="2866292" y="2075548"/>
            <a:ext cx="6098344" cy="4247317"/>
          </a:xfrm>
          <a:prstGeom prst="rect">
            <a:avLst/>
          </a:prstGeom>
          <a:noFill/>
        </p:spPr>
        <p:txBody>
          <a:bodyPr wrap="square">
            <a:spAutoFit/>
          </a:bodyPr>
          <a:lstStyle/>
          <a:p>
            <a:pPr algn="ctr"/>
            <a:r>
              <a:rPr lang="es-ES" sz="1800" dirty="0">
                <a:latin typeface="Arial"/>
                <a:cs typeface="Segoe UI"/>
              </a:rPr>
              <a:t>Tecnológico Nacional de México</a:t>
            </a:r>
            <a:r>
              <a:rPr lang="en-US" sz="1800" dirty="0">
                <a:latin typeface="Arial"/>
                <a:cs typeface="Segoe UI"/>
              </a:rPr>
              <a:t>​</a:t>
            </a:r>
            <a:endParaRPr lang="es-ES" sz="1800" dirty="0">
              <a:latin typeface="Arial"/>
              <a:cs typeface="Arial"/>
            </a:endParaRPr>
          </a:p>
          <a:p>
            <a:pPr algn="ctr"/>
            <a:r>
              <a:rPr lang="es-ES" sz="1800" dirty="0">
                <a:latin typeface="Arial"/>
                <a:cs typeface="Segoe UI"/>
              </a:rPr>
              <a:t>Instituto Tecnológico de Frontera Comalapa</a:t>
            </a:r>
            <a:r>
              <a:rPr lang="en-US" sz="1800" dirty="0">
                <a:latin typeface="Arial"/>
                <a:cs typeface="Segoe UI"/>
              </a:rPr>
              <a:t>​</a:t>
            </a:r>
          </a:p>
          <a:p>
            <a:pPr algn="ctr"/>
            <a:r>
              <a:rPr lang="es-ES" sz="1800" dirty="0">
                <a:latin typeface="Arial"/>
                <a:cs typeface="Segoe UI"/>
              </a:rPr>
              <a:t>​</a:t>
            </a:r>
          </a:p>
          <a:p>
            <a:pPr algn="ctr"/>
            <a:r>
              <a:rPr lang="en-US" sz="1800" dirty="0">
                <a:latin typeface="Arial"/>
                <a:cs typeface="Segoe UI"/>
              </a:rPr>
              <a:t>EJERCICIOS</a:t>
            </a:r>
          </a:p>
          <a:p>
            <a:pPr algn="ctr"/>
            <a:endParaRPr lang="en-US" sz="1800" dirty="0">
              <a:latin typeface="Arial"/>
              <a:cs typeface="Segoe UI"/>
            </a:endParaRPr>
          </a:p>
          <a:p>
            <a:pPr algn="ctr"/>
            <a:r>
              <a:rPr lang="es-ES" sz="1800" dirty="0">
                <a:latin typeface="Arial"/>
                <a:cs typeface="Segoe UI"/>
              </a:rPr>
              <a:t>PROGRAMACIÓN WEB</a:t>
            </a:r>
          </a:p>
          <a:p>
            <a:pPr algn="ctr"/>
            <a:r>
              <a:rPr lang="es-ES" sz="1800" dirty="0">
                <a:latin typeface="Arial"/>
                <a:cs typeface="Segoe UI"/>
              </a:rPr>
              <a:t>​</a:t>
            </a:r>
            <a:endParaRPr lang="es-ES" sz="1800" dirty="0">
              <a:latin typeface="Arial"/>
              <a:cs typeface="Arial"/>
            </a:endParaRPr>
          </a:p>
          <a:p>
            <a:pPr algn="ctr"/>
            <a:r>
              <a:rPr lang="es-ES" sz="1800" dirty="0">
                <a:latin typeface="Arial"/>
                <a:cs typeface="Segoe UI"/>
              </a:rPr>
              <a:t>Integrante: </a:t>
            </a:r>
            <a:r>
              <a:rPr lang="en-US" sz="1800" dirty="0">
                <a:latin typeface="Arial"/>
                <a:cs typeface="Segoe UI"/>
              </a:rPr>
              <a:t>​</a:t>
            </a:r>
          </a:p>
          <a:p>
            <a:pPr algn="ctr"/>
            <a:endParaRPr lang="es-ES" sz="1800" dirty="0">
              <a:latin typeface="Arial"/>
              <a:cs typeface="Segoe UI"/>
            </a:endParaRPr>
          </a:p>
          <a:p>
            <a:pPr algn="ctr"/>
            <a:r>
              <a:rPr lang="es-ES" sz="1800" dirty="0">
                <a:latin typeface="Arial"/>
                <a:cs typeface="Segoe UI"/>
              </a:rPr>
              <a:t>Reynaldo Felipe Morales Silva</a:t>
            </a:r>
            <a:r>
              <a:rPr lang="en-US" sz="1800" dirty="0">
                <a:latin typeface="Arial"/>
                <a:cs typeface="Segoe UI"/>
              </a:rPr>
              <a:t>​</a:t>
            </a:r>
          </a:p>
          <a:p>
            <a:pPr algn="ctr"/>
            <a:endParaRPr lang="es-MX" sz="1800" dirty="0">
              <a:latin typeface="Arial"/>
              <a:cs typeface="Arial"/>
            </a:endParaRPr>
          </a:p>
          <a:p>
            <a:pPr algn="ctr"/>
            <a:r>
              <a:rPr lang="es-ES" sz="1800" dirty="0">
                <a:latin typeface="Arial"/>
                <a:cs typeface="Segoe UI"/>
              </a:rPr>
              <a:t>Carrera: Ingeniería en Sistemas Computacionales</a:t>
            </a:r>
            <a:r>
              <a:rPr lang="en-US" sz="1800" dirty="0">
                <a:latin typeface="Arial"/>
                <a:cs typeface="Segoe UI"/>
              </a:rPr>
              <a:t>​</a:t>
            </a:r>
          </a:p>
          <a:p>
            <a:pPr algn="ctr"/>
            <a:r>
              <a:rPr lang="es-ES" sz="1800" dirty="0">
                <a:latin typeface="Arial"/>
                <a:cs typeface="Segoe UI"/>
              </a:rPr>
              <a:t>​</a:t>
            </a:r>
          </a:p>
          <a:p>
            <a:pPr algn="ctr"/>
            <a:r>
              <a:rPr lang="es-ES" sz="1800" dirty="0">
                <a:latin typeface="Arial"/>
                <a:cs typeface="Segoe UI"/>
              </a:rPr>
              <a:t>Docente: Ing. Francisco Javier Mingo Velázquez</a:t>
            </a:r>
          </a:p>
          <a:p>
            <a:pPr algn="ctr"/>
            <a:r>
              <a:rPr lang="es-ES" sz="1800" dirty="0">
                <a:latin typeface="Arial"/>
                <a:cs typeface="Segoe UI"/>
              </a:rPr>
              <a:t>Fecha:  1</a:t>
            </a:r>
            <a:r>
              <a:rPr lang="es-ES" dirty="0">
                <a:latin typeface="Arial"/>
                <a:cs typeface="Segoe UI"/>
              </a:rPr>
              <a:t>4</a:t>
            </a:r>
            <a:r>
              <a:rPr lang="es-ES" sz="1800" dirty="0">
                <a:latin typeface="Arial"/>
                <a:cs typeface="Segoe UI"/>
              </a:rPr>
              <a:t> de </a:t>
            </a:r>
            <a:r>
              <a:rPr lang="es-ES" dirty="0">
                <a:latin typeface="Arial"/>
                <a:cs typeface="Segoe UI"/>
              </a:rPr>
              <a:t>junio</a:t>
            </a:r>
            <a:r>
              <a:rPr lang="es-ES" sz="1800" dirty="0">
                <a:latin typeface="Arial"/>
                <a:cs typeface="Segoe UI"/>
              </a:rPr>
              <a:t> del 2026</a:t>
            </a:r>
          </a:p>
        </p:txBody>
      </p:sp>
    </p:spTree>
    <p:extLst>
      <p:ext uri="{BB962C8B-B14F-4D97-AF65-F5344CB8AC3E}">
        <p14:creationId xmlns:p14="http://schemas.microsoft.com/office/powerpoint/2010/main" val="226736234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B831458-843B-FF84-7D02-F7E4125183F7}"/>
              </a:ext>
            </a:extLst>
          </p:cNvPr>
          <p:cNvSpPr>
            <a:spLocks noGrp="1"/>
          </p:cNvSpPr>
          <p:nvPr>
            <p:ph type="title"/>
          </p:nvPr>
        </p:nvSpPr>
        <p:spPr/>
        <p:txBody>
          <a:bodyPr/>
          <a:lstStyle/>
          <a:p>
            <a:r>
              <a:rPr lang="es-MX" dirty="0"/>
              <a:t>INTRODUCCION</a:t>
            </a:r>
          </a:p>
        </p:txBody>
      </p:sp>
      <p:sp>
        <p:nvSpPr>
          <p:cNvPr id="3" name="Marcador de contenido 2">
            <a:extLst>
              <a:ext uri="{FF2B5EF4-FFF2-40B4-BE49-F238E27FC236}">
                <a16:creationId xmlns:a16="http://schemas.microsoft.com/office/drawing/2014/main" id="{29A52935-3110-9EDA-75C1-977E937D2D3E}"/>
              </a:ext>
            </a:extLst>
          </p:cNvPr>
          <p:cNvSpPr>
            <a:spLocks noGrp="1"/>
          </p:cNvSpPr>
          <p:nvPr>
            <p:ph idx="1"/>
          </p:nvPr>
        </p:nvSpPr>
        <p:spPr/>
        <p:txBody>
          <a:bodyPr>
            <a:normAutofit lnSpcReduction="10000"/>
          </a:bodyPr>
          <a:lstStyle/>
          <a:p>
            <a:pPr marL="0" indent="0" algn="just">
              <a:buNone/>
            </a:pPr>
            <a:r>
              <a:rPr lang="es-MX" dirty="0"/>
              <a:t>La seguridad en las aplicaciones web es un aspecto esencial para garantizar la protección de la información y el correcto funcionamiento de los sistemas. Actualmente, las organizaciones requieren mecanismos que permitan controlar el acceso a los recursos, proteger los datos almacenados y asegurar que únicamente los usuarios autorizados puedan realizar acciones específicas dentro de una aplicación. La implementación de medidas de seguridad contribuye a reducir riesgos relacionados con accesos indebidos, modificación no autorizada de información y posibles vulnerabilidades que puedan comprometer la integridad del sistema. En esta actividad se desarrollará una serie de ejercicios basados en el proyecto Pizzas </a:t>
            </a:r>
            <a:r>
              <a:rPr lang="es-MX" dirty="0" err="1"/>
              <a:t>Kids</a:t>
            </a:r>
            <a:r>
              <a:rPr lang="es-MX" dirty="0"/>
              <a:t>, enfocados en la aplicación de controles de seguridad para la protección de la información y la administración del sistema. Estos ejercicios permitirán reforzar los conocimientos relacionados con autenticación, control de acceso, protección de datos y buenas prácticas de seguridad en aplicaciones web modernas, utilizando las herramientas implementadas durante el desarrollo del proyecto.</a:t>
            </a:r>
          </a:p>
        </p:txBody>
      </p:sp>
    </p:spTree>
    <p:extLst>
      <p:ext uri="{BB962C8B-B14F-4D97-AF65-F5344CB8AC3E}">
        <p14:creationId xmlns:p14="http://schemas.microsoft.com/office/powerpoint/2010/main" val="5183109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745B03B-412E-F3D4-612A-8462BC27768E}"/>
              </a:ext>
            </a:extLst>
          </p:cNvPr>
          <p:cNvSpPr>
            <a:spLocks noGrp="1"/>
          </p:cNvSpPr>
          <p:nvPr>
            <p:ph type="title"/>
          </p:nvPr>
        </p:nvSpPr>
        <p:spPr/>
        <p:txBody>
          <a:bodyPr/>
          <a:lstStyle/>
          <a:p>
            <a:r>
              <a:rPr lang="es-MX" dirty="0"/>
              <a:t>JUSTIFICACION</a:t>
            </a:r>
          </a:p>
        </p:txBody>
      </p:sp>
      <p:sp>
        <p:nvSpPr>
          <p:cNvPr id="3" name="Marcador de contenido 2">
            <a:extLst>
              <a:ext uri="{FF2B5EF4-FFF2-40B4-BE49-F238E27FC236}">
                <a16:creationId xmlns:a16="http://schemas.microsoft.com/office/drawing/2014/main" id="{2F0B18F1-AB80-CD53-54CE-FBD15B7BBD97}"/>
              </a:ext>
            </a:extLst>
          </p:cNvPr>
          <p:cNvSpPr>
            <a:spLocks noGrp="1"/>
          </p:cNvSpPr>
          <p:nvPr>
            <p:ph idx="1"/>
          </p:nvPr>
        </p:nvSpPr>
        <p:spPr/>
        <p:txBody>
          <a:bodyPr>
            <a:normAutofit/>
          </a:bodyPr>
          <a:lstStyle/>
          <a:p>
            <a:pPr marL="0" indent="0" algn="just">
              <a:buNone/>
            </a:pPr>
            <a:r>
              <a:rPr lang="es-MX" dirty="0"/>
              <a:t>La realización de ejercicios prácticos relacionados con la seguridad informática permite fortalecer los conocimientos adquiridos durante el desarrollo de aplicaciones web, favoreciendo la comprensión de los mecanismos necesarios para proteger los sistemas y la información que estos gestionan. Mediante la práctica es posible identificar vulnerabilidades potenciales, aplicar medidas preventivas y desarrollar habilidades para implementar soluciones que garanticen la seguridad de los datos. En el proyecto Pizzas </a:t>
            </a:r>
            <a:r>
              <a:rPr lang="es-MX" dirty="0" err="1"/>
              <a:t>Kids</a:t>
            </a:r>
            <a:r>
              <a:rPr lang="es-MX" dirty="0"/>
              <a:t>, la incorporación de un apartado para personal autorizado y la protección de la base de datos representan elementos fundamentales para el funcionamiento seguro de la aplicación. Por ello, los ejercicios que se desarrollarán tienen como finalidad reforzar la comprensión de los controles de acceso, la administración segura de la información y la importancia de implementar medidas de protección desde las primeras etapas del desarrollo de software.</a:t>
            </a:r>
          </a:p>
        </p:txBody>
      </p:sp>
    </p:spTree>
    <p:extLst>
      <p:ext uri="{BB962C8B-B14F-4D97-AF65-F5344CB8AC3E}">
        <p14:creationId xmlns:p14="http://schemas.microsoft.com/office/powerpoint/2010/main" val="37022713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FAE8216-58DA-EC67-EC45-106E4C6E931B}"/>
              </a:ext>
            </a:extLst>
          </p:cNvPr>
          <p:cNvSpPr>
            <a:spLocks noGrp="1"/>
          </p:cNvSpPr>
          <p:nvPr>
            <p:ph type="title"/>
          </p:nvPr>
        </p:nvSpPr>
        <p:spPr/>
        <p:txBody>
          <a:bodyPr>
            <a:normAutofit fontScale="90000"/>
          </a:bodyPr>
          <a:lstStyle/>
          <a:p>
            <a:r>
              <a:rPr lang="es-MX" dirty="0"/>
              <a:t>REALIZACION DE EJERCICIOS SOBRE LA PARTE DE PERSONAL AUTORIZADO DE SEGURIDAD EN EL PROYECTO</a:t>
            </a:r>
          </a:p>
        </p:txBody>
      </p:sp>
      <p:sp>
        <p:nvSpPr>
          <p:cNvPr id="3" name="Marcador de contenido 2">
            <a:extLst>
              <a:ext uri="{FF2B5EF4-FFF2-40B4-BE49-F238E27FC236}">
                <a16:creationId xmlns:a16="http://schemas.microsoft.com/office/drawing/2014/main" id="{BEBA7776-F12C-07D5-64CB-451F0FCA92A3}"/>
              </a:ext>
            </a:extLst>
          </p:cNvPr>
          <p:cNvSpPr>
            <a:spLocks noGrp="1"/>
          </p:cNvSpPr>
          <p:nvPr>
            <p:ph idx="1"/>
          </p:nvPr>
        </p:nvSpPr>
        <p:spPr/>
        <p:txBody>
          <a:bodyPr/>
          <a:lstStyle/>
          <a:p>
            <a:pPr marL="0" indent="0">
              <a:buNone/>
            </a:pPr>
            <a:r>
              <a:rPr lang="es-MX" dirty="0"/>
              <a:t>Primero empezaremos viendo que en la barra de navegación existe una parte en donde aparece el logotipo para personal autorizado que se llama personal y con un candado, le damos clic ahí y nos llevara al apartado de personal autorizado.</a:t>
            </a:r>
          </a:p>
          <a:p>
            <a:pPr marL="0" indent="0">
              <a:buNone/>
            </a:pPr>
            <a:endParaRPr lang="es-MX" dirty="0"/>
          </a:p>
        </p:txBody>
      </p:sp>
      <p:pic>
        <p:nvPicPr>
          <p:cNvPr id="5" name="Imagen 4">
            <a:extLst>
              <a:ext uri="{FF2B5EF4-FFF2-40B4-BE49-F238E27FC236}">
                <a16:creationId xmlns:a16="http://schemas.microsoft.com/office/drawing/2014/main" id="{702BADF1-A48B-F339-0823-212EB1A1A4EE}"/>
              </a:ext>
            </a:extLst>
          </p:cNvPr>
          <p:cNvPicPr>
            <a:picLocks noChangeAspect="1"/>
          </p:cNvPicPr>
          <p:nvPr/>
        </p:nvPicPr>
        <p:blipFill>
          <a:blip r:embed="rId2"/>
          <a:stretch>
            <a:fillRect/>
          </a:stretch>
        </p:blipFill>
        <p:spPr>
          <a:xfrm>
            <a:off x="1118381" y="4001294"/>
            <a:ext cx="9955237" cy="552251"/>
          </a:xfrm>
          <a:prstGeom prst="rect">
            <a:avLst/>
          </a:prstGeom>
        </p:spPr>
      </p:pic>
    </p:spTree>
    <p:extLst>
      <p:ext uri="{BB962C8B-B14F-4D97-AF65-F5344CB8AC3E}">
        <p14:creationId xmlns:p14="http://schemas.microsoft.com/office/powerpoint/2010/main" val="249496795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341B91D6-DDB1-0E67-2043-639677AC49B5}"/>
              </a:ext>
            </a:extLst>
          </p:cNvPr>
          <p:cNvSpPr>
            <a:spLocks noGrp="1"/>
          </p:cNvSpPr>
          <p:nvPr>
            <p:ph idx="1"/>
          </p:nvPr>
        </p:nvSpPr>
        <p:spPr>
          <a:xfrm>
            <a:off x="838200" y="562708"/>
            <a:ext cx="10515600" cy="5614255"/>
          </a:xfrm>
        </p:spPr>
        <p:txBody>
          <a:bodyPr/>
          <a:lstStyle/>
          <a:p>
            <a:pPr marL="0" indent="0">
              <a:buNone/>
            </a:pPr>
            <a:r>
              <a:rPr lang="es-MX" dirty="0"/>
              <a:t>Al momento que le damos clic en el botón de personal nos lleva al apartado donde pondremos la contraseña esta parte fue programada en visual </a:t>
            </a:r>
            <a:r>
              <a:rPr lang="es-MX" dirty="0" err="1"/>
              <a:t>studio</a:t>
            </a:r>
            <a:r>
              <a:rPr lang="es-MX" dirty="0"/>
              <a:t> </a:t>
            </a:r>
            <a:r>
              <a:rPr lang="es-MX" dirty="0" err="1"/>
              <a:t>code</a:t>
            </a:r>
            <a:r>
              <a:rPr lang="es-MX" dirty="0"/>
              <a:t>.</a:t>
            </a:r>
          </a:p>
          <a:p>
            <a:pPr marL="0" indent="0">
              <a:buNone/>
            </a:pPr>
            <a:r>
              <a:rPr lang="es-MX" dirty="0"/>
              <a:t>Aquí ponemos nuestro pin que le agregamos en visual </a:t>
            </a:r>
            <a:r>
              <a:rPr lang="es-MX" dirty="0" err="1"/>
              <a:t>studio</a:t>
            </a:r>
            <a:endParaRPr lang="es-MX" dirty="0"/>
          </a:p>
        </p:txBody>
      </p:sp>
      <p:pic>
        <p:nvPicPr>
          <p:cNvPr id="7" name="Imagen 6">
            <a:extLst>
              <a:ext uri="{FF2B5EF4-FFF2-40B4-BE49-F238E27FC236}">
                <a16:creationId xmlns:a16="http://schemas.microsoft.com/office/drawing/2014/main" id="{737A7F7C-85B1-6535-FC2D-2A355235FCCC}"/>
              </a:ext>
            </a:extLst>
          </p:cNvPr>
          <p:cNvPicPr>
            <a:picLocks noChangeAspect="1"/>
          </p:cNvPicPr>
          <p:nvPr/>
        </p:nvPicPr>
        <p:blipFill>
          <a:blip r:embed="rId2"/>
          <a:stretch>
            <a:fillRect/>
          </a:stretch>
        </p:blipFill>
        <p:spPr>
          <a:xfrm>
            <a:off x="3933523" y="2696781"/>
            <a:ext cx="4324954" cy="3715268"/>
          </a:xfrm>
          <a:prstGeom prst="rect">
            <a:avLst/>
          </a:prstGeom>
        </p:spPr>
      </p:pic>
    </p:spTree>
    <p:extLst>
      <p:ext uri="{BB962C8B-B14F-4D97-AF65-F5344CB8AC3E}">
        <p14:creationId xmlns:p14="http://schemas.microsoft.com/office/powerpoint/2010/main" val="395197892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FF31C838-3B16-9D25-0D10-F7C84D58A2BD}"/>
              </a:ext>
            </a:extLst>
          </p:cNvPr>
          <p:cNvSpPr>
            <a:spLocks noGrp="1"/>
          </p:cNvSpPr>
          <p:nvPr>
            <p:ph idx="1"/>
          </p:nvPr>
        </p:nvSpPr>
        <p:spPr>
          <a:xfrm>
            <a:off x="838200" y="576775"/>
            <a:ext cx="10515600" cy="5600188"/>
          </a:xfrm>
        </p:spPr>
        <p:txBody>
          <a:bodyPr/>
          <a:lstStyle/>
          <a:p>
            <a:pPr marL="0" indent="0">
              <a:buNone/>
            </a:pPr>
            <a:r>
              <a:rPr lang="es-MX" dirty="0"/>
              <a:t>Al realizar ya esto le ponemos nuestro pin y le damos en ingresar donde nos llevara a el apartado que le mencione que se iba a estructurar para ver los pedido vendidos o bien entregados.</a:t>
            </a:r>
          </a:p>
          <a:p>
            <a:pPr marL="0" indent="0">
              <a:buNone/>
            </a:pPr>
            <a:endParaRPr lang="es-MX" dirty="0"/>
          </a:p>
        </p:txBody>
      </p:sp>
      <p:pic>
        <p:nvPicPr>
          <p:cNvPr id="5" name="Imagen 4">
            <a:extLst>
              <a:ext uri="{FF2B5EF4-FFF2-40B4-BE49-F238E27FC236}">
                <a16:creationId xmlns:a16="http://schemas.microsoft.com/office/drawing/2014/main" id="{077400E4-B060-3E8A-DF6D-3FD0B743964D}"/>
              </a:ext>
            </a:extLst>
          </p:cNvPr>
          <p:cNvPicPr>
            <a:picLocks noChangeAspect="1"/>
          </p:cNvPicPr>
          <p:nvPr/>
        </p:nvPicPr>
        <p:blipFill>
          <a:blip r:embed="rId2"/>
          <a:stretch>
            <a:fillRect/>
          </a:stretch>
        </p:blipFill>
        <p:spPr>
          <a:xfrm>
            <a:off x="838200" y="2324284"/>
            <a:ext cx="3696216" cy="1562318"/>
          </a:xfrm>
          <a:prstGeom prst="rect">
            <a:avLst/>
          </a:prstGeom>
        </p:spPr>
      </p:pic>
      <p:pic>
        <p:nvPicPr>
          <p:cNvPr id="7" name="Imagen 6">
            <a:extLst>
              <a:ext uri="{FF2B5EF4-FFF2-40B4-BE49-F238E27FC236}">
                <a16:creationId xmlns:a16="http://schemas.microsoft.com/office/drawing/2014/main" id="{402EB662-0A3E-C1B8-EE3E-9271163F8A97}"/>
              </a:ext>
            </a:extLst>
          </p:cNvPr>
          <p:cNvPicPr>
            <a:picLocks noChangeAspect="1"/>
          </p:cNvPicPr>
          <p:nvPr/>
        </p:nvPicPr>
        <p:blipFill>
          <a:blip r:embed="rId3"/>
          <a:stretch>
            <a:fillRect/>
          </a:stretch>
        </p:blipFill>
        <p:spPr>
          <a:xfrm>
            <a:off x="5228753" y="2286456"/>
            <a:ext cx="6724095" cy="3200291"/>
          </a:xfrm>
          <a:prstGeom prst="rect">
            <a:avLst/>
          </a:prstGeom>
        </p:spPr>
      </p:pic>
    </p:spTree>
    <p:extLst>
      <p:ext uri="{BB962C8B-B14F-4D97-AF65-F5344CB8AC3E}">
        <p14:creationId xmlns:p14="http://schemas.microsoft.com/office/powerpoint/2010/main" val="2660830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2EC37554-D1F6-5956-B0B3-5F2CE636D8EE}"/>
              </a:ext>
            </a:extLst>
          </p:cNvPr>
          <p:cNvSpPr>
            <a:spLocks noGrp="1"/>
          </p:cNvSpPr>
          <p:nvPr>
            <p:ph idx="1"/>
          </p:nvPr>
        </p:nvSpPr>
        <p:spPr>
          <a:xfrm>
            <a:off x="838200" y="436098"/>
            <a:ext cx="10515600" cy="5740865"/>
          </a:xfrm>
        </p:spPr>
        <p:txBody>
          <a:bodyPr/>
          <a:lstStyle/>
          <a:p>
            <a:pPr marL="0" indent="0">
              <a:buNone/>
            </a:pPr>
            <a:r>
              <a:rPr lang="es-MX" dirty="0"/>
              <a:t>Una vez ya implementado esto podemos darnos cuenta que el personal autorizado puede poner cada proceso que tiene la pizza en cuando lo están preparando o cuando ya va  en camino si en caso si es de domicilio y desde que le avisan que ya esta entregado.</a:t>
            </a:r>
          </a:p>
          <a:p>
            <a:pPr marL="0" indent="0">
              <a:buNone/>
            </a:pPr>
            <a:endParaRPr lang="es-MX" dirty="0"/>
          </a:p>
        </p:txBody>
      </p:sp>
      <p:pic>
        <p:nvPicPr>
          <p:cNvPr id="5" name="Imagen 4">
            <a:extLst>
              <a:ext uri="{FF2B5EF4-FFF2-40B4-BE49-F238E27FC236}">
                <a16:creationId xmlns:a16="http://schemas.microsoft.com/office/drawing/2014/main" id="{38B41487-6836-C421-8CCE-ABAC858FC444}"/>
              </a:ext>
            </a:extLst>
          </p:cNvPr>
          <p:cNvPicPr>
            <a:picLocks noChangeAspect="1"/>
          </p:cNvPicPr>
          <p:nvPr/>
        </p:nvPicPr>
        <p:blipFill>
          <a:blip r:embed="rId2"/>
          <a:stretch>
            <a:fillRect/>
          </a:stretch>
        </p:blipFill>
        <p:spPr>
          <a:xfrm>
            <a:off x="1519310" y="2892737"/>
            <a:ext cx="8794225" cy="2428949"/>
          </a:xfrm>
          <a:prstGeom prst="rect">
            <a:avLst/>
          </a:prstGeom>
        </p:spPr>
      </p:pic>
    </p:spTree>
    <p:extLst>
      <p:ext uri="{BB962C8B-B14F-4D97-AF65-F5344CB8AC3E}">
        <p14:creationId xmlns:p14="http://schemas.microsoft.com/office/powerpoint/2010/main" val="6981110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AC43E526-3F4C-999B-9EA8-7A18DD6E90AB}"/>
              </a:ext>
            </a:extLst>
          </p:cNvPr>
          <p:cNvSpPr>
            <a:spLocks noGrp="1"/>
          </p:cNvSpPr>
          <p:nvPr>
            <p:ph idx="1"/>
          </p:nvPr>
        </p:nvSpPr>
        <p:spPr>
          <a:xfrm>
            <a:off x="838200" y="450166"/>
            <a:ext cx="10515600" cy="5726797"/>
          </a:xfrm>
        </p:spPr>
        <p:txBody>
          <a:bodyPr/>
          <a:lstStyle/>
          <a:p>
            <a:pPr marL="0" indent="0">
              <a:buNone/>
            </a:pPr>
            <a:r>
              <a:rPr lang="es-MX" dirty="0"/>
              <a:t>Estas funciones que se implementan quedan registrados en las partes de arriba de si ya se entrego o va en camino o se esta preparando.</a:t>
            </a:r>
          </a:p>
          <a:p>
            <a:pPr marL="0" indent="0">
              <a:buNone/>
            </a:pPr>
            <a:r>
              <a:rPr lang="es-MX" dirty="0"/>
              <a:t>Como le dimos en entregado a una pizza en la parte de arriba se pasa a 1 que ya se entrego y en pendiente quedan 2.</a:t>
            </a:r>
          </a:p>
          <a:p>
            <a:pPr marL="0" indent="0">
              <a:buNone/>
            </a:pPr>
            <a:endParaRPr lang="es-MX" dirty="0"/>
          </a:p>
        </p:txBody>
      </p:sp>
      <p:pic>
        <p:nvPicPr>
          <p:cNvPr id="5" name="Imagen 4">
            <a:extLst>
              <a:ext uri="{FF2B5EF4-FFF2-40B4-BE49-F238E27FC236}">
                <a16:creationId xmlns:a16="http://schemas.microsoft.com/office/drawing/2014/main" id="{DDC4E105-E439-E6E0-D0A9-68C915E6D1ED}"/>
              </a:ext>
            </a:extLst>
          </p:cNvPr>
          <p:cNvPicPr>
            <a:picLocks noChangeAspect="1"/>
          </p:cNvPicPr>
          <p:nvPr/>
        </p:nvPicPr>
        <p:blipFill>
          <a:blip r:embed="rId2"/>
          <a:stretch>
            <a:fillRect/>
          </a:stretch>
        </p:blipFill>
        <p:spPr>
          <a:xfrm>
            <a:off x="1648391" y="2328626"/>
            <a:ext cx="8895218" cy="4079208"/>
          </a:xfrm>
          <a:prstGeom prst="rect">
            <a:avLst/>
          </a:prstGeom>
        </p:spPr>
      </p:pic>
    </p:spTree>
    <p:extLst>
      <p:ext uri="{BB962C8B-B14F-4D97-AF65-F5344CB8AC3E}">
        <p14:creationId xmlns:p14="http://schemas.microsoft.com/office/powerpoint/2010/main" val="138462082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56911093-92E3-F65E-B3DD-4F5AB7300F67}"/>
              </a:ext>
            </a:extLst>
          </p:cNvPr>
          <p:cNvSpPr>
            <a:spLocks noGrp="1"/>
          </p:cNvSpPr>
          <p:nvPr>
            <p:ph idx="1"/>
          </p:nvPr>
        </p:nvSpPr>
        <p:spPr>
          <a:xfrm>
            <a:off x="838200" y="633046"/>
            <a:ext cx="10515600" cy="5543917"/>
          </a:xfrm>
        </p:spPr>
        <p:txBody>
          <a:bodyPr/>
          <a:lstStyle/>
          <a:p>
            <a:pPr marL="0" indent="0">
              <a:buNone/>
            </a:pPr>
            <a:r>
              <a:rPr lang="es-MX" dirty="0"/>
              <a:t>Después nos vamos a la parte de gestionar pizzas y aquí podemos agregar pizza y eliminar las que no estén disponibles.</a:t>
            </a:r>
          </a:p>
          <a:p>
            <a:pPr marL="0" indent="0">
              <a:buNone/>
            </a:pPr>
            <a:endParaRPr lang="es-MX" dirty="0"/>
          </a:p>
        </p:txBody>
      </p:sp>
      <p:pic>
        <p:nvPicPr>
          <p:cNvPr id="5" name="Imagen 4">
            <a:extLst>
              <a:ext uri="{FF2B5EF4-FFF2-40B4-BE49-F238E27FC236}">
                <a16:creationId xmlns:a16="http://schemas.microsoft.com/office/drawing/2014/main" id="{3776B107-3E2A-2EC6-C373-3D6A0E236E94}"/>
              </a:ext>
            </a:extLst>
          </p:cNvPr>
          <p:cNvPicPr>
            <a:picLocks noChangeAspect="1"/>
          </p:cNvPicPr>
          <p:nvPr/>
        </p:nvPicPr>
        <p:blipFill>
          <a:blip r:embed="rId2"/>
          <a:stretch>
            <a:fillRect/>
          </a:stretch>
        </p:blipFill>
        <p:spPr>
          <a:xfrm>
            <a:off x="1639329" y="1774321"/>
            <a:ext cx="8913342" cy="3838688"/>
          </a:xfrm>
          <a:prstGeom prst="rect">
            <a:avLst/>
          </a:prstGeom>
        </p:spPr>
      </p:pic>
    </p:spTree>
    <p:extLst>
      <p:ext uri="{BB962C8B-B14F-4D97-AF65-F5344CB8AC3E}">
        <p14:creationId xmlns:p14="http://schemas.microsoft.com/office/powerpoint/2010/main" val="270169683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C671B86B-DD56-BCE6-D1C3-D1ADD067F3DA}"/>
              </a:ext>
            </a:extLst>
          </p:cNvPr>
          <p:cNvSpPr>
            <a:spLocks noGrp="1"/>
          </p:cNvSpPr>
          <p:nvPr>
            <p:ph idx="1"/>
          </p:nvPr>
        </p:nvSpPr>
        <p:spPr>
          <a:xfrm>
            <a:off x="838200" y="422031"/>
            <a:ext cx="10515600" cy="5754932"/>
          </a:xfrm>
        </p:spPr>
        <p:txBody>
          <a:bodyPr/>
          <a:lstStyle/>
          <a:p>
            <a:pPr marL="0" indent="0">
              <a:buNone/>
            </a:pPr>
            <a:r>
              <a:rPr lang="es-MX" dirty="0"/>
              <a:t>Si el personal administrativo desea agregar una pizza nueva ya le damos en agregar y nos aparecerá la parte en como agregamos la pizza.</a:t>
            </a:r>
          </a:p>
          <a:p>
            <a:pPr marL="0" indent="0">
              <a:buNone/>
            </a:pPr>
            <a:endParaRPr lang="es-MX" dirty="0"/>
          </a:p>
        </p:txBody>
      </p:sp>
      <p:pic>
        <p:nvPicPr>
          <p:cNvPr id="5" name="Imagen 4">
            <a:extLst>
              <a:ext uri="{FF2B5EF4-FFF2-40B4-BE49-F238E27FC236}">
                <a16:creationId xmlns:a16="http://schemas.microsoft.com/office/drawing/2014/main" id="{A2EE2A1B-2EE4-F557-D3E3-6963CC1CEB46}"/>
              </a:ext>
            </a:extLst>
          </p:cNvPr>
          <p:cNvPicPr>
            <a:picLocks noChangeAspect="1"/>
          </p:cNvPicPr>
          <p:nvPr/>
        </p:nvPicPr>
        <p:blipFill>
          <a:blip r:embed="rId2"/>
          <a:stretch>
            <a:fillRect/>
          </a:stretch>
        </p:blipFill>
        <p:spPr>
          <a:xfrm>
            <a:off x="2152356" y="1860170"/>
            <a:ext cx="8384006" cy="3956996"/>
          </a:xfrm>
          <a:prstGeom prst="rect">
            <a:avLst/>
          </a:prstGeom>
        </p:spPr>
      </p:pic>
    </p:spTree>
    <p:extLst>
      <p:ext uri="{BB962C8B-B14F-4D97-AF65-F5344CB8AC3E}">
        <p14:creationId xmlns:p14="http://schemas.microsoft.com/office/powerpoint/2010/main" val="12820291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9BE1543-9378-B15D-1AAC-1D6DF5C388D8}"/>
              </a:ext>
            </a:extLst>
          </p:cNvPr>
          <p:cNvSpPr>
            <a:spLocks noGrp="1"/>
          </p:cNvSpPr>
          <p:nvPr>
            <p:ph type="title"/>
          </p:nvPr>
        </p:nvSpPr>
        <p:spPr/>
        <p:txBody>
          <a:bodyPr/>
          <a:lstStyle/>
          <a:p>
            <a:r>
              <a:rPr lang="es-MX" dirty="0"/>
              <a:t>CONCLUSIÓN PERSONAL</a:t>
            </a:r>
          </a:p>
        </p:txBody>
      </p:sp>
      <p:sp>
        <p:nvSpPr>
          <p:cNvPr id="3" name="Marcador de contenido 2">
            <a:extLst>
              <a:ext uri="{FF2B5EF4-FFF2-40B4-BE49-F238E27FC236}">
                <a16:creationId xmlns:a16="http://schemas.microsoft.com/office/drawing/2014/main" id="{79CC8C0B-502F-AD9C-EA94-D22FBF0FFA0D}"/>
              </a:ext>
            </a:extLst>
          </p:cNvPr>
          <p:cNvSpPr>
            <a:spLocks noGrp="1"/>
          </p:cNvSpPr>
          <p:nvPr>
            <p:ph idx="1"/>
          </p:nvPr>
        </p:nvSpPr>
        <p:spPr/>
        <p:txBody>
          <a:bodyPr>
            <a:normAutofit/>
          </a:bodyPr>
          <a:lstStyle/>
          <a:p>
            <a:pPr marL="0" indent="0" algn="just">
              <a:buNone/>
            </a:pPr>
            <a:r>
              <a:rPr lang="es-MX" dirty="0"/>
              <a:t>La realización de los ejercicios permitió comprender con mayor profundidad la importancia de la seguridad dentro de las aplicaciones web y su impacto en la protección de la información. A través de las actividades desarrolladas fue posible reforzar conceptos relacionados con el control de acceso, la autenticación de usuarios y la protección de datos almacenados, identificando la relevancia de aplicar buenas prácticas de seguridad en cada etapa del desarrollo de un sistema. En lo personal, esta experiencia contribuyó a fortalecer mis conocimientos sobre seguridad informática y me permitió reconocer que la protección de la información es una responsabilidad fundamental en cualquier proyecto de software. Además, comprendí que la implementación de medidas de seguridad adecuadas no solo protege los datos y recursos de la aplicación, sino que también genera confianza en los usuarios y mejora la calidad general del sistema desarrollado.</a:t>
            </a:r>
          </a:p>
          <a:p>
            <a:pPr marL="0" indent="0">
              <a:buNone/>
            </a:pPr>
            <a:endParaRPr lang="es-MX" dirty="0"/>
          </a:p>
        </p:txBody>
      </p:sp>
    </p:spTree>
    <p:extLst>
      <p:ext uri="{BB962C8B-B14F-4D97-AF65-F5344CB8AC3E}">
        <p14:creationId xmlns:p14="http://schemas.microsoft.com/office/powerpoint/2010/main" val="139803201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BD77E37-D001-A1F2-8F8E-53B64CBD6506}"/>
              </a:ext>
            </a:extLst>
          </p:cNvPr>
          <p:cNvSpPr>
            <a:spLocks noGrp="1"/>
          </p:cNvSpPr>
          <p:nvPr>
            <p:ph type="title"/>
          </p:nvPr>
        </p:nvSpPr>
        <p:spPr/>
        <p:txBody>
          <a:bodyPr/>
          <a:lstStyle/>
          <a:p>
            <a:r>
              <a:rPr lang="es-MX" dirty="0"/>
              <a:t>ANEXO ENLACE DE GIT</a:t>
            </a:r>
          </a:p>
        </p:txBody>
      </p:sp>
      <p:sp>
        <p:nvSpPr>
          <p:cNvPr id="3" name="Marcador de contenido 2">
            <a:extLst>
              <a:ext uri="{FF2B5EF4-FFF2-40B4-BE49-F238E27FC236}">
                <a16:creationId xmlns:a16="http://schemas.microsoft.com/office/drawing/2014/main" id="{0F6A8D0A-E635-ECB5-4666-2FBD19363195}"/>
              </a:ext>
            </a:extLst>
          </p:cNvPr>
          <p:cNvSpPr>
            <a:spLocks noGrp="1"/>
          </p:cNvSpPr>
          <p:nvPr>
            <p:ph idx="1"/>
          </p:nvPr>
        </p:nvSpPr>
        <p:spPr/>
        <p:txBody>
          <a:bodyPr/>
          <a:lstStyle/>
          <a:p>
            <a:pPr marL="0" indent="0">
              <a:buNone/>
            </a:pPr>
            <a:r>
              <a:rPr lang="es-MX" dirty="0">
                <a:hlinkClick r:id="rId2"/>
              </a:rPr>
              <a:t>https://github.com/reynaldomorales1731-tech/PW-ISC8M.git</a:t>
            </a:r>
            <a:endParaRPr lang="es-MX" dirty="0"/>
          </a:p>
          <a:p>
            <a:pPr marL="0" indent="0">
              <a:buNone/>
            </a:pPr>
            <a:endParaRPr lang="es-MX"/>
          </a:p>
          <a:p>
            <a:pPr marL="0" indent="0">
              <a:buNone/>
            </a:pPr>
            <a:endParaRPr lang="es-MX" dirty="0"/>
          </a:p>
        </p:txBody>
      </p:sp>
    </p:spTree>
    <p:extLst>
      <p:ext uri="{BB962C8B-B14F-4D97-AF65-F5344CB8AC3E}">
        <p14:creationId xmlns:p14="http://schemas.microsoft.com/office/powerpoint/2010/main" val="2051838509"/>
      </p:ext>
    </p:extLst>
  </p:cSld>
  <p:clrMapOvr>
    <a:masterClrMapping/>
  </p:clrMapOvr>
</p:sld>
</file>

<file path=ppt/theme/theme1.xml><?xml version="1.0" encoding="utf-8"?>
<a:theme xmlns:a="http://schemas.openxmlformats.org/drawingml/2006/main" name="Faceta">
  <a:themeElements>
    <a:clrScheme name="Naranja rojo">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Faceta">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a">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Faceta</Template>
  <TotalTime>2</TotalTime>
  <Words>799</Words>
  <Application>Microsoft Office PowerPoint</Application>
  <PresentationFormat>Panorámica</PresentationFormat>
  <Paragraphs>33</Paragraphs>
  <Slides>12</Slides>
  <Notes>0</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12</vt:i4>
      </vt:variant>
    </vt:vector>
  </HeadingPairs>
  <TitlesOfParts>
    <vt:vector size="16" baseType="lpstr">
      <vt:lpstr>Arial</vt:lpstr>
      <vt:lpstr>Trebuchet MS</vt:lpstr>
      <vt:lpstr>Wingdings 3</vt:lpstr>
      <vt:lpstr>Faceta</vt:lpstr>
      <vt:lpstr>Presentación de PowerPoint</vt:lpstr>
      <vt:lpstr>INTRODUCCION</vt:lpstr>
      <vt:lpstr>JUSTIFICACION</vt:lpstr>
      <vt:lpstr>REALIZACION DE EJERCICIOS SOBRE LA PARTE DE PERSONAL AUTORIZADO DE SEGURIDAD EN EL PROYECTO</vt:lpstr>
      <vt:lpstr>Presentación de PowerPoint</vt:lpstr>
      <vt:lpstr>Presentación de PowerPoint</vt:lpstr>
      <vt:lpstr>Presentación de PowerPoint</vt:lpstr>
      <vt:lpstr>Presentación de PowerPoint</vt:lpstr>
      <vt:lpstr>Presentación de PowerPoint</vt:lpstr>
      <vt:lpstr>Presentación de PowerPoint</vt:lpstr>
      <vt:lpstr>CONCLUSIÓN PERSONAL</vt:lpstr>
      <vt:lpstr>ANEXO ENLACE DE GIT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MORALES SILVA REYNALDO FELIPE</dc:creator>
  <cp:lastModifiedBy>MORALES SILVA REYNALDO FELIPE</cp:lastModifiedBy>
  <cp:revision>3</cp:revision>
  <dcterms:created xsi:type="dcterms:W3CDTF">2026-06-12T01:50:15Z</dcterms:created>
  <dcterms:modified xsi:type="dcterms:W3CDTF">2026-06-12T02:16:12Z</dcterms:modified>
</cp:coreProperties>
</file>
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332A638-1B75-4AC8-83F0-2C18059303A7}"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2218206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332A638-1B75-4AC8-83F0-2C18059303A7}"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771163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332A638-1B75-4AC8-83F0-2C18059303A7}"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956126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332A638-1B75-4AC8-83F0-2C18059303A7}"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1926390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332A638-1B75-4AC8-83F0-2C18059303A7}" type="datetimeFigureOut">
              <a:rPr lang="es-MX" smtClean="0"/>
              <a:t>11/06/2026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4252995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332A638-1B75-4AC8-83F0-2C18059303A7}" type="datetimeFigureOut">
              <a:rPr lang="es-MX" smtClean="0"/>
              <a:t>11/06/2026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359021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32A638-1B75-4AC8-83F0-2C18059303A7}" type="datetimeFigureOut">
              <a:rPr lang="es-MX" smtClean="0"/>
              <a:t>11/06/2026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2784507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332A638-1B75-4AC8-83F0-2C18059303A7}"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2244770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s-ES"/>
              <a:t>Haga clic para modificar el estilo de título del patrón</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s-ES"/>
              <a:t>Haga clic en el icono para agregar una imagen</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3885810" y="6041362"/>
            <a:ext cx="976879" cy="365125"/>
          </a:xfrm>
        </p:spPr>
        <p:txBody>
          <a:bodyPr/>
          <a:lstStyle/>
          <a:p>
            <a:fld id="{8332A638-1B75-4AC8-83F0-2C18059303A7}" type="datetimeFigureOut">
              <a:rPr lang="es-MX" smtClean="0"/>
              <a:t>11/06/2026</a:t>
            </a:fld>
            <a:endParaRPr lang="es-MX"/>
          </a:p>
        </p:txBody>
      </p:sp>
      <p:sp>
        <p:nvSpPr>
          <p:cNvPr id="6" name="Footer Placeholder 5"/>
          <p:cNvSpPr>
            <a:spLocks noGrp="1"/>
          </p:cNvSpPr>
          <p:nvPr>
            <p:ph type="ftr" sz="quarter" idx="11"/>
          </p:nvPr>
        </p:nvSpPr>
        <p:spPr>
          <a:xfrm>
            <a:off x="590396" y="6041362"/>
            <a:ext cx="3295413" cy="365125"/>
          </a:xfrm>
        </p:spPr>
        <p:txBody>
          <a:bodyPr/>
          <a:lstStyle/>
          <a:p>
            <a:endParaRPr lang="es-MX"/>
          </a:p>
        </p:txBody>
      </p:sp>
      <p:sp>
        <p:nvSpPr>
          <p:cNvPr id="7" name="Slide Number Placeholder 6"/>
          <p:cNvSpPr>
            <a:spLocks noGrp="1"/>
          </p:cNvSpPr>
          <p:nvPr>
            <p:ph type="sldNum" sz="quarter" idx="12"/>
          </p:nvPr>
        </p:nvSpPr>
        <p:spPr>
          <a:xfrm>
            <a:off x="4862689" y="5915888"/>
            <a:ext cx="1062155" cy="490599"/>
          </a:xfrm>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2949358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s-ES"/>
              <a:t>Haga clic para modificar el estilo de título del patrón</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s-ES"/>
              <a:t>Haga clic en el icono para agregar una imagen</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332A638-1B75-4AC8-83F0-2C18059303A7}"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3081284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332A638-1B75-4AC8-83F0-2C18059303A7}"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18598911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s-ES"/>
              <a:t>Haga clic para modificar el estilo de título del patrón</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s-ES"/>
              <a:t>Haga clic para modificar los estilos de texto del patrón</a:t>
            </a:r>
          </a:p>
        </p:txBody>
      </p:sp>
      <p:sp>
        <p:nvSpPr>
          <p:cNvPr id="2" name="Date Placeholder 1"/>
          <p:cNvSpPr>
            <a:spLocks noGrp="1"/>
          </p:cNvSpPr>
          <p:nvPr>
            <p:ph type="dt" sz="half" idx="10"/>
          </p:nvPr>
        </p:nvSpPr>
        <p:spPr/>
        <p:txBody>
          <a:bodyPr/>
          <a:lstStyle/>
          <a:p>
            <a:fld id="{8332A638-1B75-4AC8-83F0-2C18059303A7}" type="datetimeFigureOut">
              <a:rPr lang="es-MX" smtClean="0"/>
              <a:t>11/06/2026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3751141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332A638-1B75-4AC8-83F0-2C18059303A7}"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680391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332A638-1B75-4AC8-83F0-2C18059303A7}"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888B7AA-D643-45F9-9E08-B38C461D9E3E}" type="slidenum">
              <a:rPr lang="es-MX" smtClean="0"/>
              <a:t>‹Nº›</a:t>
            </a:fld>
            <a:endParaRPr lang="es-MX"/>
          </a:p>
        </p:txBody>
      </p:sp>
    </p:spTree>
    <p:extLst>
      <p:ext uri="{BB962C8B-B14F-4D97-AF65-F5344CB8AC3E}">
        <p14:creationId xmlns:p14="http://schemas.microsoft.com/office/powerpoint/2010/main" val="1923441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s-MX"/>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332A638-1B75-4AC8-83F0-2C18059303A7}" type="datetimeFigureOut">
              <a:rPr lang="es-MX" smtClean="0"/>
              <a:t>11/06/2026</a:t>
            </a:fld>
            <a:endParaRPr lang="es-MX"/>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C888B7AA-D643-45F9-9E08-B38C461D9E3E}" type="slidenum">
              <a:rPr lang="es-MX" smtClean="0"/>
              <a:t>‹Nº›</a:t>
            </a:fld>
            <a:endParaRPr lang="es-MX"/>
          </a:p>
        </p:txBody>
      </p:sp>
    </p:spTree>
    <p:extLst>
      <p:ext uri="{BB962C8B-B14F-4D97-AF65-F5344CB8AC3E}">
        <p14:creationId xmlns:p14="http://schemas.microsoft.com/office/powerpoint/2010/main" val="368264596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reynaldomorales1731-tech/PW-ISC8M.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Logotipo&#10;&#10;El contenido generado por IA puede ser incorrecto.">
            <a:extLst>
              <a:ext uri="{FF2B5EF4-FFF2-40B4-BE49-F238E27FC236}">
                <a16:creationId xmlns:a16="http://schemas.microsoft.com/office/drawing/2014/main" id="{30460976-3DF1-37B3-A3A5-B5AF171D63C4}"/>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7" name="Imagen 6" descr="Logotipo, nombre de la empresa&#10;&#10;El contenido generado por IA puede ser incorrecto.">
            <a:extLst>
              <a:ext uri="{FF2B5EF4-FFF2-40B4-BE49-F238E27FC236}">
                <a16:creationId xmlns:a16="http://schemas.microsoft.com/office/drawing/2014/main" id="{29E02E28-2FC3-AB90-97BA-AB40B5B64E82}"/>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9" name="Imagen 8" descr="Diagrama&#10;&#10;El contenido generado por IA puede ser incorrecto.">
            <a:extLst>
              <a:ext uri="{FF2B5EF4-FFF2-40B4-BE49-F238E27FC236}">
                <a16:creationId xmlns:a16="http://schemas.microsoft.com/office/drawing/2014/main" id="{F8304A1D-54C3-0AA6-72BE-7F4F04DD90FC}"/>
              </a:ext>
            </a:extLst>
          </p:cNvPr>
          <p:cNvPicPr>
            <a:picLocks noChangeAspect="1"/>
          </p:cNvPicPr>
          <p:nvPr/>
        </p:nvPicPr>
        <p:blipFill>
          <a:blip r:embed="rId4"/>
          <a:stretch>
            <a:fillRect/>
          </a:stretch>
        </p:blipFill>
        <p:spPr>
          <a:xfrm>
            <a:off x="9308172" y="754002"/>
            <a:ext cx="1396941" cy="950524"/>
          </a:xfrm>
          <a:prstGeom prst="rect">
            <a:avLst/>
          </a:prstGeom>
        </p:spPr>
      </p:pic>
      <p:sp>
        <p:nvSpPr>
          <p:cNvPr id="13" name="CuadroTexto 12">
            <a:extLst>
              <a:ext uri="{FF2B5EF4-FFF2-40B4-BE49-F238E27FC236}">
                <a16:creationId xmlns:a16="http://schemas.microsoft.com/office/drawing/2014/main" id="{8067737A-B492-CAAD-EF9C-81B6A0629B54}"/>
              </a:ext>
            </a:extLst>
          </p:cNvPr>
          <p:cNvSpPr txBox="1"/>
          <p:nvPr/>
        </p:nvSpPr>
        <p:spPr>
          <a:xfrm>
            <a:off x="2866292" y="2075548"/>
            <a:ext cx="6098344" cy="4247317"/>
          </a:xfrm>
          <a:prstGeom prst="rect">
            <a:avLst/>
          </a:prstGeom>
          <a:noFill/>
        </p:spPr>
        <p:txBody>
          <a:bodyPr wrap="square">
            <a:spAutoFit/>
          </a:bodyPr>
          <a:lstStyle/>
          <a:p>
            <a:pPr algn="ctr"/>
            <a:r>
              <a:rPr lang="es-ES" sz="1800" dirty="0">
                <a:latin typeface="Arial"/>
                <a:cs typeface="Segoe UI"/>
              </a:rPr>
              <a:t>Tecnológico Nacional de México</a:t>
            </a:r>
            <a:r>
              <a:rPr lang="en-US" sz="1800" dirty="0">
                <a:latin typeface="Arial"/>
                <a:cs typeface="Segoe UI"/>
              </a:rPr>
              <a:t>​</a:t>
            </a:r>
            <a:endParaRPr lang="es-ES" sz="1800" dirty="0">
              <a:latin typeface="Arial"/>
              <a:cs typeface="Arial"/>
            </a:endParaRPr>
          </a:p>
          <a:p>
            <a:pPr algn="ctr"/>
            <a:r>
              <a:rPr lang="es-ES" sz="1800" dirty="0">
                <a:latin typeface="Arial"/>
                <a:cs typeface="Segoe UI"/>
              </a:rPr>
              <a:t>Instituto Tecnológico de Frontera Comalapa</a:t>
            </a:r>
            <a:r>
              <a:rPr lang="en-US" sz="1800" dirty="0">
                <a:latin typeface="Arial"/>
                <a:cs typeface="Segoe UI"/>
              </a:rPr>
              <a:t>​</a:t>
            </a:r>
          </a:p>
          <a:p>
            <a:pPr algn="ctr"/>
            <a:r>
              <a:rPr lang="es-ES" sz="1800" dirty="0">
                <a:latin typeface="Arial"/>
                <a:cs typeface="Segoe UI"/>
              </a:rPr>
              <a:t>​</a:t>
            </a:r>
          </a:p>
          <a:p>
            <a:pPr algn="ctr"/>
            <a:r>
              <a:rPr lang="en-US" dirty="0">
                <a:latin typeface="Arial"/>
                <a:cs typeface="Segoe UI"/>
              </a:rPr>
              <a:t>REPORTE DE PRACTICA</a:t>
            </a:r>
            <a:endParaRPr lang="en-US" sz="1800" dirty="0">
              <a:latin typeface="Arial"/>
              <a:cs typeface="Segoe UI"/>
            </a:endParaRPr>
          </a:p>
          <a:p>
            <a:pPr algn="ctr"/>
            <a:endParaRPr lang="en-US" sz="1800" dirty="0">
              <a:latin typeface="Arial"/>
              <a:cs typeface="Segoe UI"/>
            </a:endParaRPr>
          </a:p>
          <a:p>
            <a:pPr algn="ctr"/>
            <a:r>
              <a:rPr lang="es-ES" sz="1800" dirty="0">
                <a:latin typeface="Arial"/>
                <a:cs typeface="Segoe UI"/>
              </a:rPr>
              <a:t>PROGRAMACIÓN WEB</a:t>
            </a:r>
          </a:p>
          <a:p>
            <a:pPr algn="ctr"/>
            <a:r>
              <a:rPr lang="es-ES" sz="1800" dirty="0">
                <a:latin typeface="Arial"/>
                <a:cs typeface="Segoe UI"/>
              </a:rPr>
              <a:t>​</a:t>
            </a:r>
            <a:endParaRPr lang="es-ES" sz="1800" dirty="0">
              <a:latin typeface="Arial"/>
              <a:cs typeface="Arial"/>
            </a:endParaRPr>
          </a:p>
          <a:p>
            <a:pPr algn="ctr"/>
            <a:r>
              <a:rPr lang="es-ES" sz="1800" dirty="0">
                <a:latin typeface="Arial"/>
                <a:cs typeface="Segoe UI"/>
              </a:rPr>
              <a:t>Integrante: </a:t>
            </a:r>
            <a:r>
              <a:rPr lang="en-US" sz="1800" dirty="0">
                <a:latin typeface="Arial"/>
                <a:cs typeface="Segoe UI"/>
              </a:rPr>
              <a:t>​</a:t>
            </a:r>
          </a:p>
          <a:p>
            <a:pPr algn="ctr"/>
            <a:endParaRPr lang="es-ES" sz="1800" dirty="0">
              <a:latin typeface="Arial"/>
              <a:cs typeface="Segoe UI"/>
            </a:endParaRPr>
          </a:p>
          <a:p>
            <a:pPr algn="ctr"/>
            <a:r>
              <a:rPr lang="es-ES" sz="1800" dirty="0">
                <a:latin typeface="Arial"/>
                <a:cs typeface="Segoe UI"/>
              </a:rPr>
              <a:t>Reynaldo Felipe Morales Silva</a:t>
            </a:r>
            <a:r>
              <a:rPr lang="en-US" sz="1800" dirty="0">
                <a:latin typeface="Arial"/>
                <a:cs typeface="Segoe UI"/>
              </a:rPr>
              <a:t>​</a:t>
            </a:r>
          </a:p>
          <a:p>
            <a:pPr algn="ctr"/>
            <a:endParaRPr lang="es-MX" sz="1800" dirty="0">
              <a:latin typeface="Arial"/>
              <a:cs typeface="Arial"/>
            </a:endParaRPr>
          </a:p>
          <a:p>
            <a:pPr algn="ctr"/>
            <a:r>
              <a:rPr lang="es-ES" sz="1800" dirty="0">
                <a:latin typeface="Arial"/>
                <a:cs typeface="Segoe UI"/>
              </a:rPr>
              <a:t>Carrera: Ingeniería en Sistemas Computacionales</a:t>
            </a:r>
            <a:r>
              <a:rPr lang="en-US" sz="1800" dirty="0">
                <a:latin typeface="Arial"/>
                <a:cs typeface="Segoe UI"/>
              </a:rPr>
              <a:t>​</a:t>
            </a:r>
          </a:p>
          <a:p>
            <a:pPr algn="ctr"/>
            <a:r>
              <a:rPr lang="es-ES" sz="1800" dirty="0">
                <a:latin typeface="Arial"/>
                <a:cs typeface="Segoe UI"/>
              </a:rPr>
              <a:t>​</a:t>
            </a:r>
          </a:p>
          <a:p>
            <a:pPr algn="ctr"/>
            <a:r>
              <a:rPr lang="es-ES" sz="1800" dirty="0">
                <a:latin typeface="Arial"/>
                <a:cs typeface="Segoe UI"/>
              </a:rPr>
              <a:t>Docente: Ing. Francisco Javier Mingo Velázquez</a:t>
            </a:r>
          </a:p>
          <a:p>
            <a:pPr algn="ctr"/>
            <a:r>
              <a:rPr lang="es-ES" sz="1800" dirty="0">
                <a:latin typeface="Arial"/>
                <a:cs typeface="Segoe UI"/>
              </a:rPr>
              <a:t>Fecha:  1</a:t>
            </a:r>
            <a:r>
              <a:rPr lang="es-ES" dirty="0">
                <a:latin typeface="Arial"/>
                <a:cs typeface="Segoe UI"/>
              </a:rPr>
              <a:t>2</a:t>
            </a:r>
            <a:r>
              <a:rPr lang="es-ES" sz="1800" dirty="0">
                <a:latin typeface="Arial"/>
                <a:cs typeface="Segoe UI"/>
              </a:rPr>
              <a:t> </a:t>
            </a:r>
            <a:r>
              <a:rPr lang="es-ES" sz="1800">
                <a:latin typeface="Arial"/>
                <a:cs typeface="Segoe UI"/>
              </a:rPr>
              <a:t>de </a:t>
            </a:r>
            <a:r>
              <a:rPr lang="es-ES">
                <a:latin typeface="Arial"/>
                <a:cs typeface="Segoe UI"/>
              </a:rPr>
              <a:t>juni</a:t>
            </a:r>
            <a:r>
              <a:rPr lang="es-ES" sz="1800">
                <a:latin typeface="Arial"/>
                <a:cs typeface="Segoe UI"/>
              </a:rPr>
              <a:t>o </a:t>
            </a:r>
            <a:r>
              <a:rPr lang="es-ES" sz="1800" dirty="0">
                <a:latin typeface="Arial"/>
                <a:cs typeface="Segoe UI"/>
              </a:rPr>
              <a:t>del 2026</a:t>
            </a:r>
          </a:p>
        </p:txBody>
      </p:sp>
    </p:spTree>
    <p:extLst>
      <p:ext uri="{BB962C8B-B14F-4D97-AF65-F5344CB8AC3E}">
        <p14:creationId xmlns:p14="http://schemas.microsoft.com/office/powerpoint/2010/main" val="1896920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23ED38-4277-0751-C352-665A50FCA714}"/>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A4B3FE79-BA49-52BC-99C8-469B726B01A6}"/>
              </a:ext>
            </a:extLst>
          </p:cNvPr>
          <p:cNvSpPr>
            <a:spLocks noGrp="1"/>
          </p:cNvSpPr>
          <p:nvPr>
            <p:ph idx="1"/>
          </p:nvPr>
        </p:nvSpPr>
        <p:spPr/>
        <p:txBody>
          <a:bodyPr>
            <a:normAutofit lnSpcReduction="10000"/>
          </a:bodyPr>
          <a:lstStyle/>
          <a:p>
            <a:pPr marL="0" indent="0" algn="just">
              <a:buNone/>
            </a:pPr>
            <a:r>
              <a:rPr lang="es-MX" dirty="0"/>
              <a:t>La seguridad informática es un aspecto fundamental en el desarrollo de aplicaciones web, ya que permite proteger la información, controlar el acceso a los recursos del sistema y garantizar que únicamente los usuarios autorizados puedan realizar determinadas acciones. En aplicaciones orientadas a la gestión de información, la implementación de mecanismos de seguridad resulta indispensable para preservar la integridad y confidencialidad de los datos. En la presente práctica se trabajó sobre el proyecto </a:t>
            </a:r>
            <a:r>
              <a:rPr lang="es-MX" b="1" dirty="0"/>
              <a:t>Pizzas </a:t>
            </a:r>
            <a:r>
              <a:rPr lang="es-MX" b="1" dirty="0" err="1"/>
              <a:t>Kids</a:t>
            </a:r>
            <a:r>
              <a:rPr lang="es-MX" dirty="0"/>
              <a:t>, una aplicación web desarrollada con Angular y </a:t>
            </a:r>
            <a:r>
              <a:rPr lang="es-MX" dirty="0" err="1"/>
              <a:t>Supabase</a:t>
            </a:r>
            <a:r>
              <a:rPr lang="es-MX" dirty="0"/>
              <a:t> para la gestión de pedidos de una pizzería. Como parte de las mejoras realizadas, se implementó un apartado de seguridad destinado al personal autorizado, permitiendo que únicamente ciertos usuarios puedan acceder a funciones administrativas como el registro de nuevas pizzas dentro del sistema. Asimismo, se aplicaron medidas de protección en la base de datos y en la gestión de la información, fortaleciendo la seguridad general de la aplicación y contribuyendo a la protección de los datos almacenados.</a:t>
            </a:r>
          </a:p>
        </p:txBody>
      </p:sp>
    </p:spTree>
    <p:extLst>
      <p:ext uri="{BB962C8B-B14F-4D97-AF65-F5344CB8AC3E}">
        <p14:creationId xmlns:p14="http://schemas.microsoft.com/office/powerpoint/2010/main" val="3423112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4096F0-3AE5-4181-F54A-B7C18B4E4F77}"/>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9DD47072-52AC-E1CD-B0E0-6475CA02D9B6}"/>
              </a:ext>
            </a:extLst>
          </p:cNvPr>
          <p:cNvSpPr>
            <a:spLocks noGrp="1"/>
          </p:cNvSpPr>
          <p:nvPr>
            <p:ph idx="1"/>
          </p:nvPr>
        </p:nvSpPr>
        <p:spPr/>
        <p:txBody>
          <a:bodyPr>
            <a:normAutofit/>
          </a:bodyPr>
          <a:lstStyle/>
          <a:p>
            <a:pPr marL="0" indent="0" algn="just">
              <a:buNone/>
            </a:pPr>
            <a:r>
              <a:rPr lang="es-MX" dirty="0"/>
              <a:t>La implementación de mecanismos de seguridad dentro de una aplicación web es necesaria para prevenir accesos no autorizados, proteger la información de los usuarios y garantizar el correcto funcionamiento del sistema. En el caso de una aplicación de gestión de pedidos como Pizzas </a:t>
            </a:r>
            <a:r>
              <a:rPr lang="es-MX" dirty="0" err="1"/>
              <a:t>Kids</a:t>
            </a:r>
            <a:r>
              <a:rPr lang="es-MX" dirty="0"/>
              <a:t>, resulta importante establecer controles que permitan diferenciar las funciones disponibles para los clientes y las funciones reservadas para el personal administrativo. Por esta razón, se incorporó un módulo de acceso para personal autorizado, mediante el cual es posible restringir la administración del catálogo de pizzas únicamente a usuarios con permisos específicos. Además, se fortaleció la seguridad de la aplicación mediante el uso de herramientas proporcionadas por Angular y </a:t>
            </a:r>
            <a:r>
              <a:rPr lang="es-MX" dirty="0" err="1"/>
              <a:t>Supabase</a:t>
            </a:r>
            <a:r>
              <a:rPr lang="es-MX" dirty="0"/>
              <a:t>, favoreciendo la protección de los datos almacenados y reduciendo los riesgos asociados al acceso indebido a la información. Estas acciones permiten que la aplicación opere de forma más segura, confiable y adecuada para un entorno real de trabajo.</a:t>
            </a:r>
          </a:p>
        </p:txBody>
      </p:sp>
    </p:spTree>
    <p:extLst>
      <p:ext uri="{BB962C8B-B14F-4D97-AF65-F5344CB8AC3E}">
        <p14:creationId xmlns:p14="http://schemas.microsoft.com/office/powerpoint/2010/main" val="2053669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E93A77-1D59-46B5-4AA6-3435AAF832D7}"/>
              </a:ext>
            </a:extLst>
          </p:cNvPr>
          <p:cNvSpPr>
            <a:spLocks noGrp="1"/>
          </p:cNvSpPr>
          <p:nvPr>
            <p:ph type="title"/>
          </p:nvPr>
        </p:nvSpPr>
        <p:spPr/>
        <p:txBody>
          <a:bodyPr>
            <a:normAutofit fontScale="90000"/>
          </a:bodyPr>
          <a:lstStyle/>
          <a:p>
            <a:r>
              <a:rPr lang="es-MX" dirty="0"/>
              <a:t>IMPLEMENTACIÓN DE CODIGO REFERENTE A EL APARTADO DE ADMINISTRACION DE PERSONAL AUTORIZADO</a:t>
            </a:r>
          </a:p>
        </p:txBody>
      </p:sp>
      <p:sp>
        <p:nvSpPr>
          <p:cNvPr id="3" name="Marcador de contenido 2">
            <a:extLst>
              <a:ext uri="{FF2B5EF4-FFF2-40B4-BE49-F238E27FC236}">
                <a16:creationId xmlns:a16="http://schemas.microsoft.com/office/drawing/2014/main" id="{FFAA71F5-2C26-B538-0ABD-71DEDC4F0257}"/>
              </a:ext>
            </a:extLst>
          </p:cNvPr>
          <p:cNvSpPr>
            <a:spLocks noGrp="1"/>
          </p:cNvSpPr>
          <p:nvPr>
            <p:ph idx="1"/>
          </p:nvPr>
        </p:nvSpPr>
        <p:spPr/>
        <p:txBody>
          <a:bodyPr/>
          <a:lstStyle/>
          <a:p>
            <a:pPr marL="0" indent="0">
              <a:buNone/>
            </a:pPr>
            <a:r>
              <a:rPr lang="es-MX" dirty="0"/>
              <a:t>En este apartado vamos a implementar una clase o mas bien tener un método de seguridad para personal autorizado dentro de la aplicación por lo que debemos que aplicar los códigos dentro de visual </a:t>
            </a:r>
            <a:r>
              <a:rPr lang="es-MX" dirty="0" err="1"/>
              <a:t>studio</a:t>
            </a:r>
            <a:r>
              <a:rPr lang="es-MX" dirty="0"/>
              <a:t> </a:t>
            </a:r>
            <a:r>
              <a:rPr lang="es-MX" dirty="0" err="1"/>
              <a:t>code</a:t>
            </a:r>
            <a:r>
              <a:rPr lang="es-MX" dirty="0"/>
              <a:t> en el proyecto de angular.</a:t>
            </a:r>
          </a:p>
        </p:txBody>
      </p:sp>
    </p:spTree>
    <p:extLst>
      <p:ext uri="{BB962C8B-B14F-4D97-AF65-F5344CB8AC3E}">
        <p14:creationId xmlns:p14="http://schemas.microsoft.com/office/powerpoint/2010/main" val="1452033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DDE1538-CD0B-BF2A-32F3-35A25E7B2DEA}"/>
              </a:ext>
            </a:extLst>
          </p:cNvPr>
          <p:cNvSpPr>
            <a:spLocks noGrp="1"/>
          </p:cNvSpPr>
          <p:nvPr>
            <p:ph idx="1"/>
          </p:nvPr>
        </p:nvSpPr>
        <p:spPr>
          <a:xfrm>
            <a:off x="838200" y="548640"/>
            <a:ext cx="10515600" cy="5628323"/>
          </a:xfrm>
        </p:spPr>
        <p:txBody>
          <a:bodyPr/>
          <a:lstStyle/>
          <a:p>
            <a:pPr marL="0" indent="0">
              <a:buNone/>
            </a:pPr>
            <a:r>
              <a:rPr lang="es-MX" dirty="0"/>
              <a:t>Dentro de visual </a:t>
            </a:r>
            <a:r>
              <a:rPr lang="es-MX" dirty="0" err="1"/>
              <a:t>studio</a:t>
            </a:r>
            <a:r>
              <a:rPr lang="es-MX" dirty="0"/>
              <a:t> </a:t>
            </a:r>
            <a:r>
              <a:rPr lang="es-MX" dirty="0" err="1"/>
              <a:t>code</a:t>
            </a:r>
            <a:r>
              <a:rPr lang="es-MX" dirty="0"/>
              <a:t> creamos un archivo dentro de la carpeta correspondiente con el nombre de administrador y ahí se implementara el código para el apartado administrativo o para personal autorizado.</a:t>
            </a:r>
          </a:p>
          <a:p>
            <a:pPr marL="0" indent="0">
              <a:buNone/>
            </a:pPr>
            <a:endParaRPr lang="es-MX" dirty="0"/>
          </a:p>
          <a:p>
            <a:pPr marL="0" indent="0">
              <a:buNone/>
            </a:pPr>
            <a:endParaRPr lang="es-MX" dirty="0"/>
          </a:p>
        </p:txBody>
      </p:sp>
      <p:pic>
        <p:nvPicPr>
          <p:cNvPr id="5" name="Imagen 4">
            <a:extLst>
              <a:ext uri="{FF2B5EF4-FFF2-40B4-BE49-F238E27FC236}">
                <a16:creationId xmlns:a16="http://schemas.microsoft.com/office/drawing/2014/main" id="{2D97B775-05E0-168A-430D-BC9A00A44CED}"/>
              </a:ext>
            </a:extLst>
          </p:cNvPr>
          <p:cNvPicPr>
            <a:picLocks noChangeAspect="1"/>
          </p:cNvPicPr>
          <p:nvPr/>
        </p:nvPicPr>
        <p:blipFill>
          <a:blip r:embed="rId2"/>
          <a:stretch>
            <a:fillRect/>
          </a:stretch>
        </p:blipFill>
        <p:spPr>
          <a:xfrm>
            <a:off x="3221860" y="3429000"/>
            <a:ext cx="4234018" cy="589988"/>
          </a:xfrm>
          <a:prstGeom prst="rect">
            <a:avLst/>
          </a:prstGeom>
        </p:spPr>
      </p:pic>
    </p:spTree>
    <p:extLst>
      <p:ext uri="{BB962C8B-B14F-4D97-AF65-F5344CB8AC3E}">
        <p14:creationId xmlns:p14="http://schemas.microsoft.com/office/powerpoint/2010/main" val="308225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18871AA-FBBA-B32D-0E81-1BC8EF29E7EA}"/>
              </a:ext>
            </a:extLst>
          </p:cNvPr>
          <p:cNvSpPr>
            <a:spLocks noGrp="1"/>
          </p:cNvSpPr>
          <p:nvPr>
            <p:ph idx="1"/>
          </p:nvPr>
        </p:nvSpPr>
        <p:spPr>
          <a:xfrm>
            <a:off x="838199" y="-168812"/>
            <a:ext cx="10515600" cy="2757268"/>
          </a:xfrm>
        </p:spPr>
        <p:txBody>
          <a:bodyPr/>
          <a:lstStyle/>
          <a:p>
            <a:pPr marL="0" indent="0">
              <a:buNone/>
            </a:pPr>
            <a:r>
              <a:rPr lang="es-MX" dirty="0"/>
              <a:t>Una vez ya creado este apartado de administrador empezamos a crear el apartado donde se le otorgara a el código o a la clase que es lo que realizara y empezamos con el código de el pin para proteger el código de administración, en este parte le ponemos de pin 1234 para no olvidarnos.</a:t>
            </a:r>
          </a:p>
          <a:p>
            <a:pPr marL="0" indent="0">
              <a:buNone/>
            </a:pPr>
            <a:endParaRPr lang="es-MX" dirty="0"/>
          </a:p>
        </p:txBody>
      </p:sp>
      <p:pic>
        <p:nvPicPr>
          <p:cNvPr id="5" name="Imagen 4">
            <a:extLst>
              <a:ext uri="{FF2B5EF4-FFF2-40B4-BE49-F238E27FC236}">
                <a16:creationId xmlns:a16="http://schemas.microsoft.com/office/drawing/2014/main" id="{5E53B737-4AC3-82FD-8E56-8E350263747A}"/>
              </a:ext>
            </a:extLst>
          </p:cNvPr>
          <p:cNvPicPr>
            <a:picLocks noChangeAspect="1"/>
          </p:cNvPicPr>
          <p:nvPr/>
        </p:nvPicPr>
        <p:blipFill>
          <a:blip r:embed="rId2"/>
          <a:stretch>
            <a:fillRect/>
          </a:stretch>
        </p:blipFill>
        <p:spPr>
          <a:xfrm>
            <a:off x="3819033" y="2265333"/>
            <a:ext cx="4779015" cy="4008424"/>
          </a:xfrm>
          <a:prstGeom prst="rect">
            <a:avLst/>
          </a:prstGeom>
        </p:spPr>
      </p:pic>
    </p:spTree>
    <p:extLst>
      <p:ext uri="{BB962C8B-B14F-4D97-AF65-F5344CB8AC3E}">
        <p14:creationId xmlns:p14="http://schemas.microsoft.com/office/powerpoint/2010/main" val="3853925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B99B023-8F65-E3AF-3CB6-5F1C2AFCAD87}"/>
              </a:ext>
            </a:extLst>
          </p:cNvPr>
          <p:cNvSpPr>
            <a:spLocks noGrp="1"/>
          </p:cNvSpPr>
          <p:nvPr>
            <p:ph idx="1"/>
          </p:nvPr>
        </p:nvSpPr>
        <p:spPr>
          <a:xfrm>
            <a:off x="838200" y="464235"/>
            <a:ext cx="10515600" cy="1797408"/>
          </a:xfrm>
        </p:spPr>
        <p:txBody>
          <a:bodyPr/>
          <a:lstStyle/>
          <a:p>
            <a:pPr marL="0" indent="0">
              <a:buNone/>
            </a:pPr>
            <a:r>
              <a:rPr lang="es-MX" dirty="0"/>
              <a:t>Después de realizar el código de pin de seguridad ahora implementamos los botones si en dado caso somos clientes y entramos al apartado de personal o administrativo le daremos en volver al inicio o ingresar el pin.</a:t>
            </a:r>
          </a:p>
          <a:p>
            <a:pPr marL="0" indent="0">
              <a:buNone/>
            </a:pPr>
            <a:endParaRPr lang="es-MX" dirty="0"/>
          </a:p>
        </p:txBody>
      </p:sp>
      <p:pic>
        <p:nvPicPr>
          <p:cNvPr id="5" name="Imagen 4">
            <a:extLst>
              <a:ext uri="{FF2B5EF4-FFF2-40B4-BE49-F238E27FC236}">
                <a16:creationId xmlns:a16="http://schemas.microsoft.com/office/drawing/2014/main" id="{D547769C-EA7A-04CF-0CC1-B2BF57D935C7}"/>
              </a:ext>
            </a:extLst>
          </p:cNvPr>
          <p:cNvPicPr>
            <a:picLocks noChangeAspect="1"/>
          </p:cNvPicPr>
          <p:nvPr/>
        </p:nvPicPr>
        <p:blipFill>
          <a:blip r:embed="rId2"/>
          <a:stretch>
            <a:fillRect/>
          </a:stretch>
        </p:blipFill>
        <p:spPr>
          <a:xfrm>
            <a:off x="2873882" y="2261642"/>
            <a:ext cx="6725589" cy="3915321"/>
          </a:xfrm>
          <a:prstGeom prst="rect">
            <a:avLst/>
          </a:prstGeom>
        </p:spPr>
      </p:pic>
    </p:spTree>
    <p:extLst>
      <p:ext uri="{BB962C8B-B14F-4D97-AF65-F5344CB8AC3E}">
        <p14:creationId xmlns:p14="http://schemas.microsoft.com/office/powerpoint/2010/main" val="2246126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8880B2D-F643-18DA-C15C-C74DD09811A6}"/>
              </a:ext>
            </a:extLst>
          </p:cNvPr>
          <p:cNvSpPr>
            <a:spLocks noGrp="1"/>
          </p:cNvSpPr>
          <p:nvPr>
            <p:ph idx="1"/>
          </p:nvPr>
        </p:nvSpPr>
        <p:spPr>
          <a:xfrm>
            <a:off x="838200" y="436099"/>
            <a:ext cx="10515600" cy="1856936"/>
          </a:xfrm>
        </p:spPr>
        <p:txBody>
          <a:bodyPr/>
          <a:lstStyle/>
          <a:p>
            <a:pPr marL="0" indent="0">
              <a:buNone/>
            </a:pPr>
            <a:r>
              <a:rPr lang="es-MX" dirty="0"/>
              <a:t>Dentro de la misma clase creamos la parte en donde la persona lo puede ver si existen también pedidos o si ya se han entregado para así poder tener en cuenta la suma total de ventas que se realizan.</a:t>
            </a:r>
          </a:p>
          <a:p>
            <a:pPr marL="0" indent="0">
              <a:buNone/>
            </a:pPr>
            <a:endParaRPr lang="es-MX" dirty="0"/>
          </a:p>
          <a:p>
            <a:pPr marL="0" indent="0">
              <a:buNone/>
            </a:pPr>
            <a:endParaRPr lang="es-MX" dirty="0"/>
          </a:p>
        </p:txBody>
      </p:sp>
      <p:pic>
        <p:nvPicPr>
          <p:cNvPr id="5" name="Imagen 4">
            <a:extLst>
              <a:ext uri="{FF2B5EF4-FFF2-40B4-BE49-F238E27FC236}">
                <a16:creationId xmlns:a16="http://schemas.microsoft.com/office/drawing/2014/main" id="{3FC25ACD-462C-BE26-6A1C-8C7431C4E022}"/>
              </a:ext>
            </a:extLst>
          </p:cNvPr>
          <p:cNvPicPr>
            <a:picLocks noChangeAspect="1"/>
          </p:cNvPicPr>
          <p:nvPr/>
        </p:nvPicPr>
        <p:blipFill>
          <a:blip r:embed="rId2"/>
          <a:stretch>
            <a:fillRect/>
          </a:stretch>
        </p:blipFill>
        <p:spPr>
          <a:xfrm>
            <a:off x="2676047" y="2089768"/>
            <a:ext cx="6839905" cy="3381847"/>
          </a:xfrm>
          <a:prstGeom prst="rect">
            <a:avLst/>
          </a:prstGeom>
        </p:spPr>
      </p:pic>
    </p:spTree>
    <p:extLst>
      <p:ext uri="{BB962C8B-B14F-4D97-AF65-F5344CB8AC3E}">
        <p14:creationId xmlns:p14="http://schemas.microsoft.com/office/powerpoint/2010/main" val="861896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22B6AFC-FBA2-6048-A4C1-989292576BAA}"/>
              </a:ext>
            </a:extLst>
          </p:cNvPr>
          <p:cNvSpPr>
            <a:spLocks noGrp="1"/>
          </p:cNvSpPr>
          <p:nvPr>
            <p:ph idx="1"/>
          </p:nvPr>
        </p:nvSpPr>
        <p:spPr>
          <a:xfrm>
            <a:off x="838200" y="604911"/>
            <a:ext cx="10515600" cy="5572052"/>
          </a:xfrm>
        </p:spPr>
        <p:txBody>
          <a:bodyPr/>
          <a:lstStyle/>
          <a:p>
            <a:pPr marL="0" indent="0" algn="just">
              <a:buNone/>
            </a:pPr>
            <a:r>
              <a:rPr lang="es-MX" dirty="0"/>
              <a:t>Después de realizar esto si en dado caso olvidamos la contraseña y no sabemos que hacer creamos un apartado también para la recuperación de la contraseña en este caso seria  implementar otra clase donde sea para la contraseña olvidad y programar el método de recuperación.</a:t>
            </a:r>
          </a:p>
          <a:p>
            <a:pPr marL="0" indent="0" algn="just">
              <a:buNone/>
            </a:pPr>
            <a:r>
              <a:rPr lang="es-MX" dirty="0"/>
              <a:t>Creamos nuevamente un archivo con el nombre de contraseña olvidada</a:t>
            </a:r>
          </a:p>
          <a:p>
            <a:pPr marL="0" indent="0" algn="just">
              <a:buNone/>
            </a:pPr>
            <a:r>
              <a:rPr lang="es-MX" dirty="0"/>
              <a:t>Dentro de visual </a:t>
            </a:r>
            <a:r>
              <a:rPr lang="es-MX" dirty="0" err="1"/>
              <a:t>studio</a:t>
            </a:r>
            <a:r>
              <a:rPr lang="es-MX" dirty="0"/>
              <a:t> </a:t>
            </a:r>
            <a:r>
              <a:rPr lang="es-MX" dirty="0" err="1"/>
              <a:t>code</a:t>
            </a:r>
            <a:r>
              <a:rPr lang="es-MX" dirty="0"/>
              <a:t>.</a:t>
            </a:r>
          </a:p>
          <a:p>
            <a:pPr marL="0" indent="0">
              <a:buNone/>
            </a:pPr>
            <a:endParaRPr lang="es-MX" dirty="0"/>
          </a:p>
        </p:txBody>
      </p:sp>
      <p:pic>
        <p:nvPicPr>
          <p:cNvPr id="5" name="Imagen 4">
            <a:extLst>
              <a:ext uri="{FF2B5EF4-FFF2-40B4-BE49-F238E27FC236}">
                <a16:creationId xmlns:a16="http://schemas.microsoft.com/office/drawing/2014/main" id="{04319671-C077-BED2-23A3-6B0C83F156E6}"/>
              </a:ext>
            </a:extLst>
          </p:cNvPr>
          <p:cNvPicPr>
            <a:picLocks noChangeAspect="1"/>
          </p:cNvPicPr>
          <p:nvPr/>
        </p:nvPicPr>
        <p:blipFill>
          <a:blip r:embed="rId2"/>
          <a:stretch>
            <a:fillRect/>
          </a:stretch>
        </p:blipFill>
        <p:spPr>
          <a:xfrm>
            <a:off x="4282250" y="4458929"/>
            <a:ext cx="3360122" cy="436627"/>
          </a:xfrm>
          <a:prstGeom prst="rect">
            <a:avLst/>
          </a:prstGeom>
        </p:spPr>
      </p:pic>
    </p:spTree>
    <p:extLst>
      <p:ext uri="{BB962C8B-B14F-4D97-AF65-F5344CB8AC3E}">
        <p14:creationId xmlns:p14="http://schemas.microsoft.com/office/powerpoint/2010/main" val="2933772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47A6A5E-097D-863C-BAC8-E71F88C0ABAE}"/>
              </a:ext>
            </a:extLst>
          </p:cNvPr>
          <p:cNvSpPr>
            <a:spLocks noGrp="1"/>
          </p:cNvSpPr>
          <p:nvPr>
            <p:ph idx="1"/>
          </p:nvPr>
        </p:nvSpPr>
        <p:spPr>
          <a:xfrm>
            <a:off x="838200" y="689317"/>
            <a:ext cx="10515600" cy="1461508"/>
          </a:xfrm>
        </p:spPr>
        <p:txBody>
          <a:bodyPr/>
          <a:lstStyle/>
          <a:p>
            <a:pPr marL="0" indent="0">
              <a:buNone/>
            </a:pPr>
            <a:r>
              <a:rPr lang="es-MX" dirty="0"/>
              <a:t>Dentro de este apartado de programa el método de recuperación por lo que seria por medio de el correo electrónico.</a:t>
            </a:r>
          </a:p>
          <a:p>
            <a:pPr marL="0" indent="0">
              <a:buNone/>
            </a:pPr>
            <a:endParaRPr lang="es-MX" dirty="0"/>
          </a:p>
        </p:txBody>
      </p:sp>
      <p:pic>
        <p:nvPicPr>
          <p:cNvPr id="5" name="Imagen 4">
            <a:extLst>
              <a:ext uri="{FF2B5EF4-FFF2-40B4-BE49-F238E27FC236}">
                <a16:creationId xmlns:a16="http://schemas.microsoft.com/office/drawing/2014/main" id="{06CB9965-5B5C-59B7-DC37-6712A3540CF5}"/>
              </a:ext>
            </a:extLst>
          </p:cNvPr>
          <p:cNvPicPr>
            <a:picLocks noChangeAspect="1"/>
          </p:cNvPicPr>
          <p:nvPr/>
        </p:nvPicPr>
        <p:blipFill>
          <a:blip r:embed="rId2"/>
          <a:stretch>
            <a:fillRect/>
          </a:stretch>
        </p:blipFill>
        <p:spPr>
          <a:xfrm>
            <a:off x="838200" y="2150825"/>
            <a:ext cx="4486901" cy="952633"/>
          </a:xfrm>
          <a:prstGeom prst="rect">
            <a:avLst/>
          </a:prstGeom>
        </p:spPr>
      </p:pic>
      <p:pic>
        <p:nvPicPr>
          <p:cNvPr id="7" name="Imagen 6">
            <a:extLst>
              <a:ext uri="{FF2B5EF4-FFF2-40B4-BE49-F238E27FC236}">
                <a16:creationId xmlns:a16="http://schemas.microsoft.com/office/drawing/2014/main" id="{995B5343-CCC2-19C9-40F6-5124F17855CB}"/>
              </a:ext>
            </a:extLst>
          </p:cNvPr>
          <p:cNvPicPr>
            <a:picLocks noChangeAspect="1"/>
          </p:cNvPicPr>
          <p:nvPr/>
        </p:nvPicPr>
        <p:blipFill>
          <a:blip r:embed="rId3"/>
          <a:stretch>
            <a:fillRect/>
          </a:stretch>
        </p:blipFill>
        <p:spPr>
          <a:xfrm>
            <a:off x="6312643" y="1791558"/>
            <a:ext cx="4486901" cy="3731617"/>
          </a:xfrm>
          <a:prstGeom prst="rect">
            <a:avLst/>
          </a:prstGeom>
        </p:spPr>
      </p:pic>
    </p:spTree>
    <p:extLst>
      <p:ext uri="{BB962C8B-B14F-4D97-AF65-F5344CB8AC3E}">
        <p14:creationId xmlns:p14="http://schemas.microsoft.com/office/powerpoint/2010/main" val="332690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CA2A6F0-B211-971A-FBE6-1079CE4BC3D5}"/>
              </a:ext>
            </a:extLst>
          </p:cNvPr>
          <p:cNvSpPr>
            <a:spLocks noGrp="1"/>
          </p:cNvSpPr>
          <p:nvPr>
            <p:ph idx="1"/>
          </p:nvPr>
        </p:nvSpPr>
        <p:spPr>
          <a:xfrm>
            <a:off x="838200" y="618978"/>
            <a:ext cx="10515600" cy="5557985"/>
          </a:xfrm>
        </p:spPr>
        <p:txBody>
          <a:bodyPr/>
          <a:lstStyle/>
          <a:p>
            <a:pPr marL="0" indent="0" algn="just">
              <a:buNone/>
            </a:pPr>
            <a:r>
              <a:rPr lang="es-MX" dirty="0"/>
              <a:t>Una vez ya realizado esto pues es importante también tener en cuenta que se implemento un botón especial para el apartado de el personal autorizado dentro de inicio para tomar en cuenta que esta pagina web consta de verificaciones de servicio por parte de personal autorizado.</a:t>
            </a:r>
          </a:p>
        </p:txBody>
      </p:sp>
    </p:spTree>
    <p:extLst>
      <p:ext uri="{BB962C8B-B14F-4D97-AF65-F5344CB8AC3E}">
        <p14:creationId xmlns:p14="http://schemas.microsoft.com/office/powerpoint/2010/main" val="3023112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1D3491-D142-3174-85EE-163A2CCA8DEE}"/>
              </a:ext>
            </a:extLst>
          </p:cNvPr>
          <p:cNvSpPr>
            <a:spLocks noGrp="1"/>
          </p:cNvSpPr>
          <p:nvPr>
            <p:ph type="title"/>
          </p:nvPr>
        </p:nvSpPr>
        <p:spPr/>
        <p:txBody>
          <a:bodyPr/>
          <a:lstStyle/>
          <a:p>
            <a:r>
              <a:rPr lang="es-MX" dirty="0"/>
              <a:t>CONCLUSIÓN PERSONAL</a:t>
            </a:r>
          </a:p>
        </p:txBody>
      </p:sp>
      <p:sp>
        <p:nvSpPr>
          <p:cNvPr id="3" name="Marcador de contenido 2">
            <a:extLst>
              <a:ext uri="{FF2B5EF4-FFF2-40B4-BE49-F238E27FC236}">
                <a16:creationId xmlns:a16="http://schemas.microsoft.com/office/drawing/2014/main" id="{A89FE7E0-82E1-510E-E699-B89A57AAEB1F}"/>
              </a:ext>
            </a:extLst>
          </p:cNvPr>
          <p:cNvSpPr>
            <a:spLocks noGrp="1"/>
          </p:cNvSpPr>
          <p:nvPr>
            <p:ph idx="1"/>
          </p:nvPr>
        </p:nvSpPr>
        <p:spPr/>
        <p:txBody>
          <a:bodyPr>
            <a:normAutofit/>
          </a:bodyPr>
          <a:lstStyle/>
          <a:p>
            <a:pPr marL="0" indent="0" algn="just">
              <a:buNone/>
            </a:pPr>
            <a:r>
              <a:rPr lang="es-MX" dirty="0"/>
              <a:t>La realización de esta práctica permitió comprender la importancia de la seguridad dentro del desarrollo de aplicaciones web modernas. A través de la implementación de controles de acceso para personal autorizado y la protección de la información almacenada en la base de datos, fue posible identificar cómo las medidas de seguridad contribuyen a preservar la integridad, confidencialidad y disponibilidad de los datos. Además, la integración de Angular y </a:t>
            </a:r>
            <a:r>
              <a:rPr lang="es-MX" dirty="0" err="1"/>
              <a:t>Supabase</a:t>
            </a:r>
            <a:r>
              <a:rPr lang="es-MX" dirty="0"/>
              <a:t> facilitó la aplicación de mecanismos de protección que fortalecen la seguridad general del sistema sin afectar su funcionalidad. En lo personal, esta experiencia fue muy enriquecedora, ya que permitió adquirir conocimientos sobre la gestión de accesos, protección de información y buenas prácticas de seguridad, comprendiendo que la seguridad debe considerarse como un elemento esencial en cualquier proyecto de desarrollo de software y no únicamente como una característica adicional.</a:t>
            </a:r>
          </a:p>
          <a:p>
            <a:pPr marL="0" indent="0">
              <a:buNone/>
            </a:pPr>
            <a:endParaRPr lang="es-MX" dirty="0"/>
          </a:p>
        </p:txBody>
      </p:sp>
    </p:spTree>
    <p:extLst>
      <p:ext uri="{BB962C8B-B14F-4D97-AF65-F5344CB8AC3E}">
        <p14:creationId xmlns:p14="http://schemas.microsoft.com/office/powerpoint/2010/main" val="1345204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CEFD15-059B-BEF6-66DD-90F3B10E91EF}"/>
              </a:ext>
            </a:extLst>
          </p:cNvPr>
          <p:cNvSpPr>
            <a:spLocks noGrp="1"/>
          </p:cNvSpPr>
          <p:nvPr>
            <p:ph type="title"/>
          </p:nvPr>
        </p:nvSpPr>
        <p:spPr/>
        <p:txBody>
          <a:bodyPr/>
          <a:lstStyle/>
          <a:p>
            <a:r>
              <a:rPr lang="es-MX" dirty="0"/>
              <a:t>ANEXO ENLACE DE GIT</a:t>
            </a:r>
          </a:p>
        </p:txBody>
      </p:sp>
      <p:sp>
        <p:nvSpPr>
          <p:cNvPr id="3" name="Marcador de contenido 2">
            <a:extLst>
              <a:ext uri="{FF2B5EF4-FFF2-40B4-BE49-F238E27FC236}">
                <a16:creationId xmlns:a16="http://schemas.microsoft.com/office/drawing/2014/main" id="{2E898D9C-3C59-B33E-EDF2-1204DBDEFC09}"/>
              </a:ext>
            </a:extLst>
          </p:cNvPr>
          <p:cNvSpPr>
            <a:spLocks noGrp="1"/>
          </p:cNvSpPr>
          <p:nvPr>
            <p:ph idx="1"/>
          </p:nvPr>
        </p:nvSpPr>
        <p:spPr/>
        <p:txBody>
          <a:bodyPr/>
          <a:lstStyle/>
          <a:p>
            <a:pPr marL="0" indent="0">
              <a:buNone/>
            </a:pPr>
            <a:r>
              <a:rPr lang="es-MX" dirty="0">
                <a:hlinkClick r:id="rId2"/>
              </a:rPr>
              <a:t>https://github.com/reynaldomorales1731-tech/PW-ISC8M.git</a:t>
            </a:r>
            <a:endParaRPr lang="es-MX" dirty="0"/>
          </a:p>
          <a:p>
            <a:pPr marL="0" indent="0">
              <a:buNone/>
            </a:pPr>
            <a:endParaRPr lang="es-MX"/>
          </a:p>
          <a:p>
            <a:pPr marL="0" indent="0">
              <a:buNone/>
            </a:pPr>
            <a:endParaRPr lang="es-MX" dirty="0"/>
          </a:p>
        </p:txBody>
      </p:sp>
    </p:spTree>
    <p:extLst>
      <p:ext uri="{BB962C8B-B14F-4D97-AF65-F5344CB8AC3E}">
        <p14:creationId xmlns:p14="http://schemas.microsoft.com/office/powerpoint/2010/main" val="19351183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table">
  <a:themeElements>
    <a:clrScheme name="Ci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Ci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Ci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Citable</Template>
  <TotalTime>52</TotalTime>
  <Words>902</Words>
  <Application>Microsoft Office PowerPoint</Application>
  <PresentationFormat>Panorámica</PresentationFormat>
  <Paragraphs>34</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Century Gothic</vt:lpstr>
      <vt:lpstr>Wingdings 2</vt:lpstr>
      <vt:lpstr>Citable</vt:lpstr>
      <vt:lpstr>Presentación de PowerPoint</vt:lpstr>
      <vt:lpstr>INTRODUCCIÓN</vt:lpstr>
      <vt:lpstr>JUSTIFICACIÓN</vt:lpstr>
      <vt:lpstr>IMPLEMENTACIÓN DE CODIGO REFERENTE A EL APARTADO DE ADMINISTRACION DE PERSONAL AUTORIZADO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CONCLUSIÓN PERSONAL</vt:lpstr>
      <vt:lpstr>ANEXO ENLACE DE GIT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SILVA REYNALDO FELIPE</dc:creator>
  <cp:lastModifiedBy>MORALES SILVA REYNALDO FELIPE</cp:lastModifiedBy>
  <cp:revision>3</cp:revision>
  <dcterms:created xsi:type="dcterms:W3CDTF">2026-06-12T01:00:35Z</dcterms:created>
  <dcterms:modified xsi:type="dcterms:W3CDTF">2026-06-12T02:16:45Z</dcterms:modified>
</cp:coreProperties>
</file>
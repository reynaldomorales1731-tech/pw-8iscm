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8" d="100"/>
          <a:sy n="68" d="100"/>
        </p:scale>
        <p:origin x="81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A83E0C13-81BD-4730-A7EC-96FB72E98FDA}" type="datetimeFigureOut">
              <a:rPr lang="es-MX" smtClean="0"/>
              <a:t>11/06/2026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D87928C-0A30-48B2-9FD1-45B7DD849618}" type="slidenum">
              <a:rPr lang="es-MX" smtClean="0"/>
              <a:t>‹Nº›</a:t>
            </a:fld>
            <a:endParaRPr lang="es-MX"/>
          </a:p>
        </p:txBody>
      </p:sp>
    </p:spTree>
    <p:extLst>
      <p:ext uri="{BB962C8B-B14F-4D97-AF65-F5344CB8AC3E}">
        <p14:creationId xmlns:p14="http://schemas.microsoft.com/office/powerpoint/2010/main" val="8363064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83E0C13-81BD-4730-A7EC-96FB72E98FDA}" type="datetimeFigureOut">
              <a:rPr lang="es-MX" smtClean="0"/>
              <a:t>11/06/2026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D87928C-0A30-48B2-9FD1-45B7DD849618}" type="slidenum">
              <a:rPr lang="es-MX" smtClean="0"/>
              <a:t>‹Nº›</a:t>
            </a:fld>
            <a:endParaRPr lang="es-MX"/>
          </a:p>
        </p:txBody>
      </p:sp>
    </p:spTree>
    <p:extLst>
      <p:ext uri="{BB962C8B-B14F-4D97-AF65-F5344CB8AC3E}">
        <p14:creationId xmlns:p14="http://schemas.microsoft.com/office/powerpoint/2010/main" val="1651933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A83E0C13-81BD-4730-A7EC-96FB72E98FDA}" type="datetimeFigureOut">
              <a:rPr lang="es-MX" smtClean="0"/>
              <a:t>11/06/2026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D87928C-0A30-48B2-9FD1-45B7DD849618}" type="slidenum">
              <a:rPr lang="es-MX" smtClean="0"/>
              <a:t>‹Nº›</a:t>
            </a:fld>
            <a:endParaRPr lang="es-MX"/>
          </a:p>
        </p:txBody>
      </p:sp>
    </p:spTree>
    <p:extLst>
      <p:ext uri="{BB962C8B-B14F-4D97-AF65-F5344CB8AC3E}">
        <p14:creationId xmlns:p14="http://schemas.microsoft.com/office/powerpoint/2010/main" val="15129916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A83E0C13-81BD-4730-A7EC-96FB72E98FDA}" type="datetimeFigureOut">
              <a:rPr lang="es-MX" smtClean="0"/>
              <a:t>11/06/2026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5D87928C-0A30-48B2-9FD1-45B7DD849618}" type="slidenum">
              <a:rPr lang="es-MX" smtClean="0"/>
              <a:t>‹Nº›</a:t>
            </a:fld>
            <a:endParaRPr lang="es-MX"/>
          </a:p>
        </p:txBody>
      </p:sp>
    </p:spTree>
    <p:extLst>
      <p:ext uri="{BB962C8B-B14F-4D97-AF65-F5344CB8AC3E}">
        <p14:creationId xmlns:p14="http://schemas.microsoft.com/office/powerpoint/2010/main" val="35749216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A83E0C13-81BD-4730-A7EC-96FB72E98FDA}" type="datetimeFigureOut">
              <a:rPr lang="es-MX" smtClean="0"/>
              <a:t>11/06/2026</a:t>
            </a:fld>
            <a:endParaRPr lang="es-MX"/>
          </a:p>
        </p:txBody>
      </p:sp>
      <p:sp>
        <p:nvSpPr>
          <p:cNvPr id="8" name="Footer Placeholder 7"/>
          <p:cNvSpPr>
            <a:spLocks noGrp="1"/>
          </p:cNvSpPr>
          <p:nvPr>
            <p:ph type="ftr" sz="quarter" idx="11"/>
          </p:nvPr>
        </p:nvSpPr>
        <p:spPr/>
        <p:txBody>
          <a:bodyPr/>
          <a:lstStyle/>
          <a:p>
            <a:endParaRPr lang="es-MX"/>
          </a:p>
        </p:txBody>
      </p:sp>
      <p:sp>
        <p:nvSpPr>
          <p:cNvPr id="9" name="Slide Number Placeholder 8"/>
          <p:cNvSpPr>
            <a:spLocks noGrp="1"/>
          </p:cNvSpPr>
          <p:nvPr>
            <p:ph type="sldNum" sz="quarter" idx="12"/>
          </p:nvPr>
        </p:nvSpPr>
        <p:spPr/>
        <p:txBody>
          <a:bodyPr/>
          <a:lstStyle/>
          <a:p>
            <a:fld id="{5D87928C-0A30-48B2-9FD1-45B7DD849618}" type="slidenum">
              <a:rPr lang="es-MX" smtClean="0"/>
              <a:t>‹Nº›</a:t>
            </a:fld>
            <a:endParaRPr lang="es-MX"/>
          </a:p>
        </p:txBody>
      </p:sp>
    </p:spTree>
    <p:extLst>
      <p:ext uri="{BB962C8B-B14F-4D97-AF65-F5344CB8AC3E}">
        <p14:creationId xmlns:p14="http://schemas.microsoft.com/office/powerpoint/2010/main" val="20523065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A83E0C13-81BD-4730-A7EC-96FB72E98FDA}" type="datetimeFigureOut">
              <a:rPr lang="es-MX" smtClean="0"/>
              <a:t>11/06/2026</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5D87928C-0A30-48B2-9FD1-45B7DD849618}" type="slidenum">
              <a:rPr lang="es-MX" smtClean="0"/>
              <a:t>‹Nº›</a:t>
            </a:fld>
            <a:endParaRPr lang="es-MX"/>
          </a:p>
        </p:txBody>
      </p:sp>
    </p:spTree>
    <p:extLst>
      <p:ext uri="{BB962C8B-B14F-4D97-AF65-F5344CB8AC3E}">
        <p14:creationId xmlns:p14="http://schemas.microsoft.com/office/powerpoint/2010/main" val="27985970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83E0C13-81BD-4730-A7EC-96FB72E98FDA}" type="datetimeFigureOut">
              <a:rPr lang="es-MX" smtClean="0"/>
              <a:t>11/06/2026</a:t>
            </a:fld>
            <a:endParaRPr lang="es-MX"/>
          </a:p>
        </p:txBody>
      </p:sp>
      <p:sp>
        <p:nvSpPr>
          <p:cNvPr id="3" name="Footer Placeholder 2"/>
          <p:cNvSpPr>
            <a:spLocks noGrp="1"/>
          </p:cNvSpPr>
          <p:nvPr>
            <p:ph type="ftr" sz="quarter" idx="11"/>
          </p:nvPr>
        </p:nvSpPr>
        <p:spPr/>
        <p:txBody>
          <a:bodyPr/>
          <a:lstStyle/>
          <a:p>
            <a:endParaRPr lang="es-MX"/>
          </a:p>
        </p:txBody>
      </p:sp>
      <p:sp>
        <p:nvSpPr>
          <p:cNvPr id="4" name="Slide Number Placeholder 3"/>
          <p:cNvSpPr>
            <a:spLocks noGrp="1"/>
          </p:cNvSpPr>
          <p:nvPr>
            <p:ph type="sldNum" sz="quarter" idx="12"/>
          </p:nvPr>
        </p:nvSpPr>
        <p:spPr/>
        <p:txBody>
          <a:bodyPr/>
          <a:lstStyle/>
          <a:p>
            <a:fld id="{5D87928C-0A30-48B2-9FD1-45B7DD849618}" type="slidenum">
              <a:rPr lang="es-MX" smtClean="0"/>
              <a:t>‹Nº›</a:t>
            </a:fld>
            <a:endParaRPr lang="es-MX"/>
          </a:p>
        </p:txBody>
      </p:sp>
    </p:spTree>
    <p:extLst>
      <p:ext uri="{BB962C8B-B14F-4D97-AF65-F5344CB8AC3E}">
        <p14:creationId xmlns:p14="http://schemas.microsoft.com/office/powerpoint/2010/main" val="10427875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A83E0C13-81BD-4730-A7EC-96FB72E98FDA}" type="datetimeFigureOut">
              <a:rPr lang="es-MX" smtClean="0"/>
              <a:t>11/06/2026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5D87928C-0A30-48B2-9FD1-45B7DD849618}" type="slidenum">
              <a:rPr lang="es-MX" smtClean="0"/>
              <a:t>‹Nº›</a:t>
            </a:fld>
            <a:endParaRPr lang="es-MX"/>
          </a:p>
        </p:txBody>
      </p:sp>
    </p:spTree>
    <p:extLst>
      <p:ext uri="{BB962C8B-B14F-4D97-AF65-F5344CB8AC3E}">
        <p14:creationId xmlns:p14="http://schemas.microsoft.com/office/powerpoint/2010/main" val="278660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A83E0C13-81BD-4730-A7EC-96FB72E98FDA}" type="datetimeFigureOut">
              <a:rPr lang="es-MX" smtClean="0"/>
              <a:t>11/06/2026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5D87928C-0A30-48B2-9FD1-45B7DD849618}" type="slidenum">
              <a:rPr lang="es-MX" smtClean="0"/>
              <a:t>‹Nº›</a:t>
            </a:fld>
            <a:endParaRPr lang="es-MX"/>
          </a:p>
        </p:txBody>
      </p:sp>
    </p:spTree>
    <p:extLst>
      <p:ext uri="{BB962C8B-B14F-4D97-AF65-F5344CB8AC3E}">
        <p14:creationId xmlns:p14="http://schemas.microsoft.com/office/powerpoint/2010/main" val="19635766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A83E0C13-81BD-4730-A7EC-96FB72E98FDA}" type="datetimeFigureOut">
              <a:rPr lang="es-MX" smtClean="0"/>
              <a:t>11/06/2026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D87928C-0A30-48B2-9FD1-45B7DD849618}" type="slidenum">
              <a:rPr lang="es-MX" smtClean="0"/>
              <a:t>‹Nº›</a:t>
            </a:fld>
            <a:endParaRPr lang="es-MX"/>
          </a:p>
        </p:txBody>
      </p:sp>
    </p:spTree>
    <p:extLst>
      <p:ext uri="{BB962C8B-B14F-4D97-AF65-F5344CB8AC3E}">
        <p14:creationId xmlns:p14="http://schemas.microsoft.com/office/powerpoint/2010/main" val="3245709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A83E0C13-81BD-4730-A7EC-96FB72E98FDA}" type="datetimeFigureOut">
              <a:rPr lang="es-MX" smtClean="0"/>
              <a:t>11/06/2026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D87928C-0A30-48B2-9FD1-45B7DD849618}" type="slidenum">
              <a:rPr lang="es-MX" smtClean="0"/>
              <a:t>‹Nº›</a:t>
            </a:fld>
            <a:endParaRPr lang="es-MX"/>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5771357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A83E0C13-81BD-4730-A7EC-96FB72E98FDA}" type="datetimeFigureOut">
              <a:rPr lang="es-MX" smtClean="0"/>
              <a:t>11/06/2026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D87928C-0A30-48B2-9FD1-45B7DD849618}" type="slidenum">
              <a:rPr lang="es-MX" smtClean="0"/>
              <a:t>‹Nº›</a:t>
            </a:fld>
            <a:endParaRPr lang="es-MX"/>
          </a:p>
        </p:txBody>
      </p:sp>
    </p:spTree>
    <p:extLst>
      <p:ext uri="{BB962C8B-B14F-4D97-AF65-F5344CB8AC3E}">
        <p14:creationId xmlns:p14="http://schemas.microsoft.com/office/powerpoint/2010/main" val="31095239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A83E0C13-81BD-4730-A7EC-96FB72E98FDA}" type="datetimeFigureOut">
              <a:rPr lang="es-MX" smtClean="0"/>
              <a:t>11/06/2026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D87928C-0A30-48B2-9FD1-45B7DD849618}" type="slidenum">
              <a:rPr lang="es-MX" smtClean="0"/>
              <a:t>‹Nº›</a:t>
            </a:fld>
            <a:endParaRPr lang="es-MX"/>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8513694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A83E0C13-81BD-4730-A7EC-96FB72E98FDA}" type="datetimeFigureOut">
              <a:rPr lang="es-MX" smtClean="0"/>
              <a:t>11/06/2026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D87928C-0A30-48B2-9FD1-45B7DD849618}" type="slidenum">
              <a:rPr lang="es-MX" smtClean="0"/>
              <a:t>‹Nº›</a:t>
            </a:fld>
            <a:endParaRPr lang="es-MX"/>
          </a:p>
        </p:txBody>
      </p:sp>
    </p:spTree>
    <p:extLst>
      <p:ext uri="{BB962C8B-B14F-4D97-AF65-F5344CB8AC3E}">
        <p14:creationId xmlns:p14="http://schemas.microsoft.com/office/powerpoint/2010/main" val="25285593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83E0C13-81BD-4730-A7EC-96FB72E98FDA}" type="datetimeFigureOut">
              <a:rPr lang="es-MX" smtClean="0"/>
              <a:t>11/06/2026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D87928C-0A30-48B2-9FD1-45B7DD849618}" type="slidenum">
              <a:rPr lang="es-MX" smtClean="0"/>
              <a:t>‹Nº›</a:t>
            </a:fld>
            <a:endParaRPr lang="es-MX"/>
          </a:p>
        </p:txBody>
      </p:sp>
    </p:spTree>
    <p:extLst>
      <p:ext uri="{BB962C8B-B14F-4D97-AF65-F5344CB8AC3E}">
        <p14:creationId xmlns:p14="http://schemas.microsoft.com/office/powerpoint/2010/main" val="31914801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83E0C13-81BD-4730-A7EC-96FB72E98FDA}" type="datetimeFigureOut">
              <a:rPr lang="es-MX" smtClean="0"/>
              <a:t>11/06/2026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D87928C-0A30-48B2-9FD1-45B7DD849618}" type="slidenum">
              <a:rPr lang="es-MX" smtClean="0"/>
              <a:t>‹Nº›</a:t>
            </a:fld>
            <a:endParaRPr lang="es-MX"/>
          </a:p>
        </p:txBody>
      </p:sp>
    </p:spTree>
    <p:extLst>
      <p:ext uri="{BB962C8B-B14F-4D97-AF65-F5344CB8AC3E}">
        <p14:creationId xmlns:p14="http://schemas.microsoft.com/office/powerpoint/2010/main" val="18610047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A83E0C13-81BD-4730-A7EC-96FB72E98FDA}" type="datetimeFigureOut">
              <a:rPr lang="es-MX" smtClean="0"/>
              <a:t>11/06/2026</a:t>
            </a:fld>
            <a:endParaRPr lang="es-MX"/>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s-MX"/>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5D87928C-0A30-48B2-9FD1-45B7DD849618}" type="slidenum">
              <a:rPr lang="es-MX" smtClean="0"/>
              <a:t>‹Nº›</a:t>
            </a:fld>
            <a:endParaRPr lang="es-MX"/>
          </a:p>
        </p:txBody>
      </p:sp>
    </p:spTree>
    <p:extLst>
      <p:ext uri="{BB962C8B-B14F-4D97-AF65-F5344CB8AC3E}">
        <p14:creationId xmlns:p14="http://schemas.microsoft.com/office/powerpoint/2010/main" val="67050191"/>
      </p:ext>
    </p:extLst>
  </p:cSld>
  <p:clrMap bg1="dk1" tx1="lt1" bg2="dk2" tx2="lt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typescriptlang.org/?utm_source=chatgpt.com" TargetMode="External"/><Relationship Id="rId2" Type="http://schemas.openxmlformats.org/officeDocument/2006/relationships/hyperlink" Target="https://angular.dev/?utm_source=chatgpt.com" TargetMode="External"/><Relationship Id="rId1" Type="http://schemas.openxmlformats.org/officeDocument/2006/relationships/slideLayout" Target="../slideLayouts/slideLayout2.xml"/><Relationship Id="rId5" Type="http://schemas.openxmlformats.org/officeDocument/2006/relationships/hyperlink" Target="https://nodejs.org/?utm_source=chatgpt.com" TargetMode="External"/><Relationship Id="rId4" Type="http://schemas.openxmlformats.org/officeDocument/2006/relationships/hyperlink" Target="https://supabase.com/docs?utm_source=chatgpt.com" TargetMode="External"/></Relationships>
</file>

<file path=ppt/slides/_rels/slide12.xml.rels><?xml version="1.0" encoding="UTF-8" standalone="yes"?>
<Relationships xmlns="http://schemas.openxmlformats.org/package/2006/relationships"><Relationship Id="rId2" Type="http://schemas.openxmlformats.org/officeDocument/2006/relationships/hyperlink" Target="https://github.com/reynaldomorales1731-tech/PW-ISC8M.git"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descr="Imagen que contiene Logotipo&#10;&#10;El contenido generado por IA puede ser incorrecto.">
            <a:extLst>
              <a:ext uri="{FF2B5EF4-FFF2-40B4-BE49-F238E27FC236}">
                <a16:creationId xmlns:a16="http://schemas.microsoft.com/office/drawing/2014/main" id="{5AF6AD26-EC49-2E9C-6DD1-5D1E7B45E65B}"/>
              </a:ext>
            </a:extLst>
          </p:cNvPr>
          <p:cNvPicPr>
            <a:picLocks noChangeAspect="1"/>
          </p:cNvPicPr>
          <p:nvPr/>
        </p:nvPicPr>
        <p:blipFill>
          <a:blip r:embed="rId2"/>
          <a:stretch>
            <a:fillRect/>
          </a:stretch>
        </p:blipFill>
        <p:spPr>
          <a:xfrm>
            <a:off x="694785" y="735222"/>
            <a:ext cx="3700014" cy="1131858"/>
          </a:xfrm>
          <a:prstGeom prst="rect">
            <a:avLst/>
          </a:prstGeom>
        </p:spPr>
      </p:pic>
      <p:pic>
        <p:nvPicPr>
          <p:cNvPr id="5" name="Imagen 4" descr="Logotipo, nombre de la empresa&#10;&#10;El contenido generado por IA puede ser incorrecto.">
            <a:extLst>
              <a:ext uri="{FF2B5EF4-FFF2-40B4-BE49-F238E27FC236}">
                <a16:creationId xmlns:a16="http://schemas.microsoft.com/office/drawing/2014/main" id="{92998D2F-55EC-B41C-D37C-C4374AC8A882}"/>
              </a:ext>
            </a:extLst>
          </p:cNvPr>
          <p:cNvPicPr>
            <a:picLocks noChangeAspect="1"/>
          </p:cNvPicPr>
          <p:nvPr/>
        </p:nvPicPr>
        <p:blipFill>
          <a:blip r:embed="rId3"/>
          <a:stretch>
            <a:fillRect/>
          </a:stretch>
        </p:blipFill>
        <p:spPr>
          <a:xfrm>
            <a:off x="5401753" y="821486"/>
            <a:ext cx="2265513" cy="959330"/>
          </a:xfrm>
          <a:prstGeom prst="rect">
            <a:avLst/>
          </a:prstGeom>
        </p:spPr>
      </p:pic>
      <p:pic>
        <p:nvPicPr>
          <p:cNvPr id="6" name="Imagen 5" descr="Diagrama&#10;&#10;El contenido generado por IA puede ser incorrecto.">
            <a:extLst>
              <a:ext uri="{FF2B5EF4-FFF2-40B4-BE49-F238E27FC236}">
                <a16:creationId xmlns:a16="http://schemas.microsoft.com/office/drawing/2014/main" id="{5AE25DEA-32CA-DC80-B28F-4D5B17BB4ADC}"/>
              </a:ext>
            </a:extLst>
          </p:cNvPr>
          <p:cNvPicPr>
            <a:picLocks noChangeAspect="1"/>
          </p:cNvPicPr>
          <p:nvPr/>
        </p:nvPicPr>
        <p:blipFill>
          <a:blip r:embed="rId4"/>
          <a:stretch>
            <a:fillRect/>
          </a:stretch>
        </p:blipFill>
        <p:spPr>
          <a:xfrm>
            <a:off x="9308172" y="754002"/>
            <a:ext cx="1396941" cy="950524"/>
          </a:xfrm>
          <a:prstGeom prst="rect">
            <a:avLst/>
          </a:prstGeom>
        </p:spPr>
      </p:pic>
      <p:sp>
        <p:nvSpPr>
          <p:cNvPr id="7" name="CuadroTexto 6">
            <a:extLst>
              <a:ext uri="{FF2B5EF4-FFF2-40B4-BE49-F238E27FC236}">
                <a16:creationId xmlns:a16="http://schemas.microsoft.com/office/drawing/2014/main" id="{A91C6575-B77B-F36A-08B2-F13F556D96B8}"/>
              </a:ext>
            </a:extLst>
          </p:cNvPr>
          <p:cNvSpPr txBox="1"/>
          <p:nvPr/>
        </p:nvSpPr>
        <p:spPr>
          <a:xfrm>
            <a:off x="2866292" y="2075548"/>
            <a:ext cx="6098344" cy="4247317"/>
          </a:xfrm>
          <a:prstGeom prst="rect">
            <a:avLst/>
          </a:prstGeom>
          <a:noFill/>
        </p:spPr>
        <p:txBody>
          <a:bodyPr wrap="square">
            <a:spAutoFit/>
          </a:bodyPr>
          <a:lstStyle/>
          <a:p>
            <a:pPr algn="ctr"/>
            <a:r>
              <a:rPr lang="es-ES" sz="1800" dirty="0">
                <a:latin typeface="Arial"/>
                <a:cs typeface="Segoe UI"/>
              </a:rPr>
              <a:t>Tecnológico Nacional de México</a:t>
            </a:r>
            <a:r>
              <a:rPr lang="en-US" sz="1800" dirty="0">
                <a:latin typeface="Arial"/>
                <a:cs typeface="Segoe UI"/>
              </a:rPr>
              <a:t>​</a:t>
            </a:r>
            <a:endParaRPr lang="es-ES" sz="1800" dirty="0">
              <a:latin typeface="Arial"/>
              <a:cs typeface="Arial"/>
            </a:endParaRPr>
          </a:p>
          <a:p>
            <a:pPr algn="ctr"/>
            <a:r>
              <a:rPr lang="es-ES" sz="1800" dirty="0">
                <a:latin typeface="Arial"/>
                <a:cs typeface="Segoe UI"/>
              </a:rPr>
              <a:t>Instituto Tecnológico de Frontera Comalapa</a:t>
            </a:r>
            <a:r>
              <a:rPr lang="en-US" sz="1800" dirty="0">
                <a:latin typeface="Arial"/>
                <a:cs typeface="Segoe UI"/>
              </a:rPr>
              <a:t>​</a:t>
            </a:r>
          </a:p>
          <a:p>
            <a:pPr algn="ctr"/>
            <a:r>
              <a:rPr lang="es-ES" sz="1800" dirty="0">
                <a:latin typeface="Arial"/>
                <a:cs typeface="Segoe UI"/>
              </a:rPr>
              <a:t>​</a:t>
            </a:r>
          </a:p>
          <a:p>
            <a:pPr algn="ctr"/>
            <a:r>
              <a:rPr lang="en-US" dirty="0">
                <a:latin typeface="Arial"/>
                <a:cs typeface="Segoe UI"/>
              </a:rPr>
              <a:t>REPORTE DE PRACTICA</a:t>
            </a:r>
            <a:endParaRPr lang="en-US" sz="1800" dirty="0">
              <a:latin typeface="Arial"/>
              <a:cs typeface="Segoe UI"/>
            </a:endParaRPr>
          </a:p>
          <a:p>
            <a:pPr algn="ctr"/>
            <a:endParaRPr lang="en-US" sz="1800" dirty="0">
              <a:latin typeface="Arial"/>
              <a:cs typeface="Segoe UI"/>
            </a:endParaRPr>
          </a:p>
          <a:p>
            <a:pPr algn="ctr"/>
            <a:r>
              <a:rPr lang="es-ES" sz="1800" dirty="0">
                <a:latin typeface="Arial"/>
                <a:cs typeface="Segoe UI"/>
              </a:rPr>
              <a:t>PROGRAMACIÓN WEB</a:t>
            </a:r>
          </a:p>
          <a:p>
            <a:pPr algn="ctr"/>
            <a:r>
              <a:rPr lang="es-ES" sz="1800" dirty="0">
                <a:latin typeface="Arial"/>
                <a:cs typeface="Segoe UI"/>
              </a:rPr>
              <a:t>​</a:t>
            </a:r>
            <a:endParaRPr lang="es-ES" sz="1800" dirty="0">
              <a:latin typeface="Arial"/>
              <a:cs typeface="Arial"/>
            </a:endParaRPr>
          </a:p>
          <a:p>
            <a:pPr algn="ctr"/>
            <a:r>
              <a:rPr lang="es-ES" sz="1800" dirty="0">
                <a:latin typeface="Arial"/>
                <a:cs typeface="Segoe UI"/>
              </a:rPr>
              <a:t>Integrante: </a:t>
            </a:r>
            <a:r>
              <a:rPr lang="en-US" sz="1800" dirty="0">
                <a:latin typeface="Arial"/>
                <a:cs typeface="Segoe UI"/>
              </a:rPr>
              <a:t>​</a:t>
            </a:r>
          </a:p>
          <a:p>
            <a:pPr algn="ctr"/>
            <a:endParaRPr lang="es-ES" sz="1800" dirty="0">
              <a:latin typeface="Arial"/>
              <a:cs typeface="Segoe UI"/>
            </a:endParaRPr>
          </a:p>
          <a:p>
            <a:pPr algn="ctr"/>
            <a:r>
              <a:rPr lang="es-ES" sz="1800" dirty="0">
                <a:latin typeface="Arial"/>
                <a:cs typeface="Segoe UI"/>
              </a:rPr>
              <a:t>Reynaldo Felipe Morales Silva</a:t>
            </a:r>
            <a:r>
              <a:rPr lang="en-US" sz="1800" dirty="0">
                <a:latin typeface="Arial"/>
                <a:cs typeface="Segoe UI"/>
              </a:rPr>
              <a:t>​</a:t>
            </a:r>
          </a:p>
          <a:p>
            <a:pPr algn="ctr"/>
            <a:endParaRPr lang="es-MX" sz="1800" dirty="0">
              <a:latin typeface="Arial"/>
              <a:cs typeface="Arial"/>
            </a:endParaRPr>
          </a:p>
          <a:p>
            <a:pPr algn="ctr"/>
            <a:r>
              <a:rPr lang="es-ES" sz="1800" dirty="0">
                <a:latin typeface="Arial"/>
                <a:cs typeface="Segoe UI"/>
              </a:rPr>
              <a:t>Carrera: Ingeniería en Sistemas Computacionales</a:t>
            </a:r>
            <a:r>
              <a:rPr lang="en-US" sz="1800" dirty="0">
                <a:latin typeface="Arial"/>
                <a:cs typeface="Segoe UI"/>
              </a:rPr>
              <a:t>​</a:t>
            </a:r>
          </a:p>
          <a:p>
            <a:pPr algn="ctr"/>
            <a:r>
              <a:rPr lang="es-ES" sz="1800" dirty="0">
                <a:latin typeface="Arial"/>
                <a:cs typeface="Segoe UI"/>
              </a:rPr>
              <a:t>​</a:t>
            </a:r>
          </a:p>
          <a:p>
            <a:pPr algn="ctr"/>
            <a:r>
              <a:rPr lang="es-ES" sz="1800" dirty="0">
                <a:latin typeface="Arial"/>
                <a:cs typeface="Segoe UI"/>
              </a:rPr>
              <a:t>Docente: Ing. Francisco Javier Mingo Velázquez</a:t>
            </a:r>
          </a:p>
          <a:p>
            <a:pPr algn="ctr"/>
            <a:r>
              <a:rPr lang="es-ES" sz="1800" dirty="0">
                <a:latin typeface="Arial"/>
                <a:cs typeface="Segoe UI"/>
              </a:rPr>
              <a:t>Fecha:  0</a:t>
            </a:r>
            <a:r>
              <a:rPr lang="es-ES" dirty="0">
                <a:latin typeface="Arial"/>
                <a:cs typeface="Segoe UI"/>
              </a:rPr>
              <a:t>4</a:t>
            </a:r>
            <a:r>
              <a:rPr lang="es-ES" sz="1800" dirty="0">
                <a:latin typeface="Arial"/>
                <a:cs typeface="Segoe UI"/>
              </a:rPr>
              <a:t> de </a:t>
            </a:r>
            <a:r>
              <a:rPr lang="es-ES" dirty="0">
                <a:latin typeface="Arial"/>
                <a:cs typeface="Segoe UI"/>
              </a:rPr>
              <a:t>juni</a:t>
            </a:r>
            <a:r>
              <a:rPr lang="es-ES" sz="1800" dirty="0">
                <a:latin typeface="Arial"/>
                <a:cs typeface="Segoe UI"/>
              </a:rPr>
              <a:t>o del 2026</a:t>
            </a:r>
          </a:p>
        </p:txBody>
      </p:sp>
    </p:spTree>
    <p:extLst>
      <p:ext uri="{BB962C8B-B14F-4D97-AF65-F5344CB8AC3E}">
        <p14:creationId xmlns:p14="http://schemas.microsoft.com/office/powerpoint/2010/main" val="28994108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0DD2E1-577E-6B39-84C2-5FDC724E81D4}"/>
              </a:ext>
            </a:extLst>
          </p:cNvPr>
          <p:cNvSpPr>
            <a:spLocks noGrp="1"/>
          </p:cNvSpPr>
          <p:nvPr>
            <p:ph type="title"/>
          </p:nvPr>
        </p:nvSpPr>
        <p:spPr/>
        <p:txBody>
          <a:bodyPr/>
          <a:lstStyle/>
          <a:p>
            <a:r>
              <a:rPr lang="es-MX" dirty="0"/>
              <a:t>INTRODUCCIÓN</a:t>
            </a:r>
          </a:p>
        </p:txBody>
      </p:sp>
      <p:sp>
        <p:nvSpPr>
          <p:cNvPr id="3" name="Marcador de contenido 2">
            <a:extLst>
              <a:ext uri="{FF2B5EF4-FFF2-40B4-BE49-F238E27FC236}">
                <a16:creationId xmlns:a16="http://schemas.microsoft.com/office/drawing/2014/main" id="{8D12BCCC-53A4-B011-A468-D3620923C033}"/>
              </a:ext>
            </a:extLst>
          </p:cNvPr>
          <p:cNvSpPr>
            <a:spLocks noGrp="1"/>
          </p:cNvSpPr>
          <p:nvPr>
            <p:ph idx="1"/>
          </p:nvPr>
        </p:nvSpPr>
        <p:spPr/>
        <p:txBody>
          <a:bodyPr>
            <a:normAutofit lnSpcReduction="10000"/>
          </a:bodyPr>
          <a:lstStyle/>
          <a:p>
            <a:pPr marL="0" indent="0" algn="just">
              <a:buNone/>
            </a:pPr>
            <a:r>
              <a:rPr lang="es-MX" dirty="0"/>
              <a:t>La programación del lado del servidor es una de las áreas fundamentales en el desarrollo de aplicaciones web modernas, ya que permite procesar información, gestionar bases de datos y proporcionar servicios a los usuarios de manera segura y eficiente. A diferencia de la programación del lado del cliente, donde las operaciones se ejecutan en el navegador, la programación del lado del servidor se encarga de administrar la lógica de negocio y el almacenamiento de datos. En la presente práctica se desarrolló una aplicación web denominada "Pizzas </a:t>
            </a:r>
            <a:r>
              <a:rPr lang="es-MX" dirty="0" err="1"/>
              <a:t>Kids</a:t>
            </a:r>
            <a:r>
              <a:rPr lang="es-MX" dirty="0"/>
              <a:t>", utilizando Angular para la interfaz de usuario y </a:t>
            </a:r>
            <a:r>
              <a:rPr lang="es-MX" dirty="0" err="1"/>
              <a:t>Supabase</a:t>
            </a:r>
            <a:r>
              <a:rPr lang="es-MX" dirty="0"/>
              <a:t> como plataforma de almacenamiento en la nube. Mediante esta aplicación fue posible implementar procesos relacionados con la gestión de pedidos, captura de información mediante formularios, acceso a bases de datos y comunicación entre la aplicación y el servidor. Durante el desarrollo se aplicaron conceptos fundamentales de programación del lado del servidor, permitiendo comprender la importancia de estas tecnologías en la construcción de sistemas web dinámicos.</a:t>
            </a:r>
          </a:p>
          <a:p>
            <a:pPr marL="0" indent="0">
              <a:buNone/>
            </a:pPr>
            <a:endParaRPr lang="es-MX" dirty="0"/>
          </a:p>
        </p:txBody>
      </p:sp>
    </p:spTree>
    <p:extLst>
      <p:ext uri="{BB962C8B-B14F-4D97-AF65-F5344CB8AC3E}">
        <p14:creationId xmlns:p14="http://schemas.microsoft.com/office/powerpoint/2010/main" val="14839822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751C188-FC8D-9189-1564-3D40DED7356B}"/>
              </a:ext>
            </a:extLst>
          </p:cNvPr>
          <p:cNvSpPr>
            <a:spLocks noGrp="1"/>
          </p:cNvSpPr>
          <p:nvPr>
            <p:ph type="title"/>
          </p:nvPr>
        </p:nvSpPr>
        <p:spPr/>
        <p:txBody>
          <a:bodyPr/>
          <a:lstStyle/>
          <a:p>
            <a:r>
              <a:rPr lang="es-MX" dirty="0"/>
              <a:t>JUSTIFICACIÓN</a:t>
            </a:r>
          </a:p>
        </p:txBody>
      </p:sp>
      <p:sp>
        <p:nvSpPr>
          <p:cNvPr id="3" name="Marcador de contenido 2">
            <a:extLst>
              <a:ext uri="{FF2B5EF4-FFF2-40B4-BE49-F238E27FC236}">
                <a16:creationId xmlns:a16="http://schemas.microsoft.com/office/drawing/2014/main" id="{942C82E2-418B-2DA3-8396-B05E5006F086}"/>
              </a:ext>
            </a:extLst>
          </p:cNvPr>
          <p:cNvSpPr>
            <a:spLocks noGrp="1"/>
          </p:cNvSpPr>
          <p:nvPr>
            <p:ph idx="1"/>
          </p:nvPr>
        </p:nvSpPr>
        <p:spPr/>
        <p:txBody>
          <a:bodyPr>
            <a:normAutofit/>
          </a:bodyPr>
          <a:lstStyle/>
          <a:p>
            <a:pPr marL="0" indent="0" algn="just">
              <a:buNone/>
            </a:pPr>
            <a:r>
              <a:rPr lang="es-MX" dirty="0"/>
              <a:t>La realización de esta práctica tiene como finalidad aplicar los conocimientos adquiridos sobre programación del lado del servidor mediante el desarrollo de una aplicación web funcional. El proyecto "Pizzas </a:t>
            </a:r>
            <a:r>
              <a:rPr lang="es-MX" dirty="0" err="1"/>
              <a:t>Kids</a:t>
            </a:r>
            <a:r>
              <a:rPr lang="es-MX" dirty="0"/>
              <a:t>" permitió integrar diferentes tecnologías para gestionar información de manera eficiente, almacenando datos en una base de datos en la nube y permitiendo la interacción entre el usuario y el sistema. Además, esta práctica contribuyó al fortalecimiento de habilidades relacionadas con el desarrollo web, el manejo de bases de datos, la utilización de </a:t>
            </a:r>
            <a:r>
              <a:rPr lang="es-MX" dirty="0" err="1"/>
              <a:t>Frameworks</a:t>
            </a:r>
            <a:r>
              <a:rPr lang="es-MX" dirty="0"/>
              <a:t> modernos y la implementación de servicios que facilitan la comunicación entre la interfaz de usuario y el almacenamiento de información. Gracias a estas actividades fue posible comprender el funcionamiento de los procesos que se ejecutan en el servidor y su importancia dentro de una aplicación web moderna.</a:t>
            </a:r>
          </a:p>
          <a:p>
            <a:pPr marL="0" indent="0">
              <a:buNone/>
            </a:pPr>
            <a:endParaRPr lang="es-MX" dirty="0"/>
          </a:p>
        </p:txBody>
      </p:sp>
    </p:spTree>
    <p:extLst>
      <p:ext uri="{BB962C8B-B14F-4D97-AF65-F5344CB8AC3E}">
        <p14:creationId xmlns:p14="http://schemas.microsoft.com/office/powerpoint/2010/main" val="24364075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A6C344C-9811-ED82-6899-D3CD7B78DA7A}"/>
              </a:ext>
            </a:extLst>
          </p:cNvPr>
          <p:cNvSpPr>
            <a:spLocks noGrp="1"/>
          </p:cNvSpPr>
          <p:nvPr>
            <p:ph type="title"/>
          </p:nvPr>
        </p:nvSpPr>
        <p:spPr/>
        <p:txBody>
          <a:bodyPr/>
          <a:lstStyle/>
          <a:p>
            <a:r>
              <a:rPr lang="es-MX" dirty="0"/>
              <a:t>INTRODUCCION AL LENGUAJE</a:t>
            </a:r>
          </a:p>
        </p:txBody>
      </p:sp>
      <p:sp>
        <p:nvSpPr>
          <p:cNvPr id="3" name="Marcador de contenido 2">
            <a:extLst>
              <a:ext uri="{FF2B5EF4-FFF2-40B4-BE49-F238E27FC236}">
                <a16:creationId xmlns:a16="http://schemas.microsoft.com/office/drawing/2014/main" id="{D8A2E595-2092-8BDE-392F-71B4CB52718A}"/>
              </a:ext>
            </a:extLst>
          </p:cNvPr>
          <p:cNvSpPr>
            <a:spLocks noGrp="1"/>
          </p:cNvSpPr>
          <p:nvPr>
            <p:ph idx="1"/>
          </p:nvPr>
        </p:nvSpPr>
        <p:spPr/>
        <p:txBody>
          <a:bodyPr/>
          <a:lstStyle/>
          <a:p>
            <a:pPr marL="0" indent="0">
              <a:buNone/>
            </a:pPr>
            <a:r>
              <a:rPr lang="es-MX" dirty="0"/>
              <a:t>Se utilizo </a:t>
            </a:r>
            <a:r>
              <a:rPr lang="es-MX" dirty="0" err="1"/>
              <a:t>typer</a:t>
            </a:r>
            <a:r>
              <a:rPr lang="es-MX" dirty="0"/>
              <a:t> script ya que angular trabaja con esta herramienta para desarrollar aplicaciones web y que también perite crear un código mas fluido y seguro para ello es donde se organiza la estructura del id y la información de la pizza, dentro de visual </a:t>
            </a:r>
            <a:r>
              <a:rPr lang="es-MX" dirty="0" err="1"/>
              <a:t>studio</a:t>
            </a:r>
            <a:r>
              <a:rPr lang="es-MX" dirty="0"/>
              <a:t>.</a:t>
            </a:r>
          </a:p>
          <a:p>
            <a:pPr marL="0" indent="0">
              <a:buNone/>
            </a:pPr>
            <a:endParaRPr lang="es-MX" dirty="0"/>
          </a:p>
        </p:txBody>
      </p:sp>
      <p:pic>
        <p:nvPicPr>
          <p:cNvPr id="5" name="Imagen 4">
            <a:extLst>
              <a:ext uri="{FF2B5EF4-FFF2-40B4-BE49-F238E27FC236}">
                <a16:creationId xmlns:a16="http://schemas.microsoft.com/office/drawing/2014/main" id="{D9E0D425-B056-31A6-97A8-FFBDDF96DC39}"/>
              </a:ext>
            </a:extLst>
          </p:cNvPr>
          <p:cNvPicPr>
            <a:picLocks noChangeAspect="1"/>
          </p:cNvPicPr>
          <p:nvPr/>
        </p:nvPicPr>
        <p:blipFill>
          <a:blip r:embed="rId2"/>
          <a:stretch>
            <a:fillRect/>
          </a:stretch>
        </p:blipFill>
        <p:spPr>
          <a:xfrm>
            <a:off x="1414636" y="3750433"/>
            <a:ext cx="3820058" cy="2086266"/>
          </a:xfrm>
          <a:prstGeom prst="rect">
            <a:avLst/>
          </a:prstGeom>
        </p:spPr>
      </p:pic>
      <p:pic>
        <p:nvPicPr>
          <p:cNvPr id="7" name="Imagen 6">
            <a:extLst>
              <a:ext uri="{FF2B5EF4-FFF2-40B4-BE49-F238E27FC236}">
                <a16:creationId xmlns:a16="http://schemas.microsoft.com/office/drawing/2014/main" id="{05F79D8B-C466-C3F9-AED0-0EE0CA531514}"/>
              </a:ext>
            </a:extLst>
          </p:cNvPr>
          <p:cNvPicPr>
            <a:picLocks noChangeAspect="1"/>
          </p:cNvPicPr>
          <p:nvPr/>
        </p:nvPicPr>
        <p:blipFill>
          <a:blip r:embed="rId3"/>
          <a:stretch>
            <a:fillRect/>
          </a:stretch>
        </p:blipFill>
        <p:spPr>
          <a:xfrm>
            <a:off x="5951807" y="3681065"/>
            <a:ext cx="4248743" cy="2495898"/>
          </a:xfrm>
          <a:prstGeom prst="rect">
            <a:avLst/>
          </a:prstGeom>
        </p:spPr>
      </p:pic>
    </p:spTree>
    <p:extLst>
      <p:ext uri="{BB962C8B-B14F-4D97-AF65-F5344CB8AC3E}">
        <p14:creationId xmlns:p14="http://schemas.microsoft.com/office/powerpoint/2010/main" val="38053147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0AAB3E6-3E7B-2DFA-9C2E-B9D5C9377615}"/>
              </a:ext>
            </a:extLst>
          </p:cNvPr>
          <p:cNvSpPr>
            <a:spLocks noGrp="1"/>
          </p:cNvSpPr>
          <p:nvPr>
            <p:ph type="title"/>
          </p:nvPr>
        </p:nvSpPr>
        <p:spPr/>
        <p:txBody>
          <a:bodyPr/>
          <a:lstStyle/>
          <a:p>
            <a:r>
              <a:rPr lang="es-MX" dirty="0"/>
              <a:t>ESTRUCTURAS DE CONTROL</a:t>
            </a:r>
          </a:p>
        </p:txBody>
      </p:sp>
      <p:sp>
        <p:nvSpPr>
          <p:cNvPr id="3" name="Marcador de contenido 2">
            <a:extLst>
              <a:ext uri="{FF2B5EF4-FFF2-40B4-BE49-F238E27FC236}">
                <a16:creationId xmlns:a16="http://schemas.microsoft.com/office/drawing/2014/main" id="{B4B2B87D-FFC1-E443-1FBD-5E5AB324A2DB}"/>
              </a:ext>
            </a:extLst>
          </p:cNvPr>
          <p:cNvSpPr>
            <a:spLocks noGrp="1"/>
          </p:cNvSpPr>
          <p:nvPr>
            <p:ph idx="1"/>
          </p:nvPr>
        </p:nvSpPr>
        <p:spPr/>
        <p:txBody>
          <a:bodyPr/>
          <a:lstStyle/>
          <a:p>
            <a:pPr marL="0" indent="0">
              <a:buNone/>
            </a:pPr>
            <a:r>
              <a:rPr lang="es-MX" dirty="0"/>
              <a:t>En este paso es como se estructura bajo el uso de condiciones de </a:t>
            </a:r>
            <a:r>
              <a:rPr lang="es-MX" dirty="0" err="1"/>
              <a:t>if</a:t>
            </a:r>
            <a:r>
              <a:rPr lang="es-MX" dirty="0"/>
              <a:t>, es decir que estructuramos el código para que el código responda a lo que le pidamos y el uso de ciclos, quedando bajo los siguientes comando en visual </a:t>
            </a:r>
            <a:r>
              <a:rPr lang="es-MX" dirty="0" err="1"/>
              <a:t>studio</a:t>
            </a:r>
            <a:r>
              <a:rPr lang="es-MX" dirty="0"/>
              <a:t> </a:t>
            </a:r>
            <a:r>
              <a:rPr lang="es-MX" dirty="0" err="1"/>
              <a:t>code</a:t>
            </a:r>
            <a:r>
              <a:rPr lang="es-MX" dirty="0"/>
              <a:t>.</a:t>
            </a:r>
          </a:p>
          <a:p>
            <a:pPr marL="0" indent="0">
              <a:buNone/>
            </a:pPr>
            <a:endParaRPr lang="es-MX" dirty="0"/>
          </a:p>
          <a:p>
            <a:pPr marL="0" indent="0">
              <a:buNone/>
            </a:pPr>
            <a:r>
              <a:rPr lang="es-MX" dirty="0"/>
              <a:t> </a:t>
            </a:r>
          </a:p>
        </p:txBody>
      </p:sp>
      <p:pic>
        <p:nvPicPr>
          <p:cNvPr id="5" name="Imagen 4">
            <a:extLst>
              <a:ext uri="{FF2B5EF4-FFF2-40B4-BE49-F238E27FC236}">
                <a16:creationId xmlns:a16="http://schemas.microsoft.com/office/drawing/2014/main" id="{AC5C8D22-44AB-FD51-F485-A15FCBDA8043}"/>
              </a:ext>
            </a:extLst>
          </p:cNvPr>
          <p:cNvPicPr>
            <a:picLocks noChangeAspect="1"/>
          </p:cNvPicPr>
          <p:nvPr/>
        </p:nvPicPr>
        <p:blipFill>
          <a:blip r:embed="rId2"/>
          <a:stretch>
            <a:fillRect/>
          </a:stretch>
        </p:blipFill>
        <p:spPr>
          <a:xfrm>
            <a:off x="838200" y="4174354"/>
            <a:ext cx="4248743" cy="1238423"/>
          </a:xfrm>
          <a:prstGeom prst="rect">
            <a:avLst/>
          </a:prstGeom>
        </p:spPr>
      </p:pic>
      <p:pic>
        <p:nvPicPr>
          <p:cNvPr id="7" name="Imagen 6">
            <a:extLst>
              <a:ext uri="{FF2B5EF4-FFF2-40B4-BE49-F238E27FC236}">
                <a16:creationId xmlns:a16="http://schemas.microsoft.com/office/drawing/2014/main" id="{8214B5F5-7A91-BA34-00CE-ACCB92FD8BBE}"/>
              </a:ext>
            </a:extLst>
          </p:cNvPr>
          <p:cNvPicPr>
            <a:picLocks noChangeAspect="1"/>
          </p:cNvPicPr>
          <p:nvPr/>
        </p:nvPicPr>
        <p:blipFill>
          <a:blip r:embed="rId3"/>
          <a:stretch>
            <a:fillRect/>
          </a:stretch>
        </p:blipFill>
        <p:spPr>
          <a:xfrm>
            <a:off x="5339743" y="4174354"/>
            <a:ext cx="3791479" cy="1286054"/>
          </a:xfrm>
          <a:prstGeom prst="rect">
            <a:avLst/>
          </a:prstGeom>
        </p:spPr>
      </p:pic>
    </p:spTree>
    <p:extLst>
      <p:ext uri="{BB962C8B-B14F-4D97-AF65-F5344CB8AC3E}">
        <p14:creationId xmlns:p14="http://schemas.microsoft.com/office/powerpoint/2010/main" val="14268902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94C7DE9-A0C0-A176-E32E-2DE6F8B9851D}"/>
              </a:ext>
            </a:extLst>
          </p:cNvPr>
          <p:cNvSpPr>
            <a:spLocks noGrp="1"/>
          </p:cNvSpPr>
          <p:nvPr>
            <p:ph type="title"/>
          </p:nvPr>
        </p:nvSpPr>
        <p:spPr/>
        <p:txBody>
          <a:bodyPr/>
          <a:lstStyle/>
          <a:p>
            <a:r>
              <a:rPr lang="es-MX" dirty="0"/>
              <a:t>TRATAMIENTO DE FORMULARIOS</a:t>
            </a:r>
          </a:p>
        </p:txBody>
      </p:sp>
      <p:sp>
        <p:nvSpPr>
          <p:cNvPr id="3" name="Marcador de contenido 2">
            <a:extLst>
              <a:ext uri="{FF2B5EF4-FFF2-40B4-BE49-F238E27FC236}">
                <a16:creationId xmlns:a16="http://schemas.microsoft.com/office/drawing/2014/main" id="{86139A16-5349-4A4C-EBB0-CB26B59D40C6}"/>
              </a:ext>
            </a:extLst>
          </p:cNvPr>
          <p:cNvSpPr>
            <a:spLocks noGrp="1"/>
          </p:cNvSpPr>
          <p:nvPr>
            <p:ph idx="1"/>
          </p:nvPr>
        </p:nvSpPr>
        <p:spPr/>
        <p:txBody>
          <a:bodyPr/>
          <a:lstStyle/>
          <a:p>
            <a:pPr marL="0" indent="0">
              <a:buNone/>
            </a:pPr>
            <a:r>
              <a:rPr lang="es-MX" dirty="0"/>
              <a:t>En este punto es donde se </a:t>
            </a:r>
            <a:r>
              <a:rPr lang="es-MX" dirty="0" err="1"/>
              <a:t>resulve</a:t>
            </a:r>
            <a:r>
              <a:rPr lang="es-MX" dirty="0"/>
              <a:t> la validación de información de los clientes es decir cuando al momento que pedimos una pizza el cliente debe que rellenar un formulario y es donde se </a:t>
            </a:r>
            <a:r>
              <a:rPr lang="es-MX" dirty="0" err="1"/>
              <a:t>envia</a:t>
            </a:r>
            <a:r>
              <a:rPr lang="es-MX" dirty="0"/>
              <a:t> al servidor que en este caso es una base de datos, pero de esta manera es como quedaría </a:t>
            </a:r>
            <a:r>
              <a:rPr lang="es-MX" dirty="0" err="1"/>
              <a:t>estruturada</a:t>
            </a:r>
            <a:r>
              <a:rPr lang="es-MX" dirty="0"/>
              <a:t> el formulario para que el cliente le aparezca en la pagina web dentro de visual </a:t>
            </a:r>
            <a:r>
              <a:rPr lang="es-MX" dirty="0" err="1"/>
              <a:t>studio</a:t>
            </a:r>
            <a:r>
              <a:rPr lang="es-MX" dirty="0"/>
              <a:t> </a:t>
            </a:r>
            <a:r>
              <a:rPr lang="es-MX" dirty="0" err="1"/>
              <a:t>code</a:t>
            </a:r>
            <a:r>
              <a:rPr lang="es-MX" dirty="0"/>
              <a:t>.</a:t>
            </a:r>
          </a:p>
          <a:p>
            <a:pPr marL="0" indent="0">
              <a:buNone/>
            </a:pPr>
            <a:endParaRPr lang="es-MX" dirty="0"/>
          </a:p>
          <a:p>
            <a:pPr marL="0" indent="0">
              <a:buNone/>
            </a:pPr>
            <a:endParaRPr lang="es-MX" dirty="0"/>
          </a:p>
        </p:txBody>
      </p:sp>
      <p:pic>
        <p:nvPicPr>
          <p:cNvPr id="5" name="Imagen 4">
            <a:extLst>
              <a:ext uri="{FF2B5EF4-FFF2-40B4-BE49-F238E27FC236}">
                <a16:creationId xmlns:a16="http://schemas.microsoft.com/office/drawing/2014/main" id="{9EC9C983-E57C-F32D-B327-4037E31A0235}"/>
              </a:ext>
            </a:extLst>
          </p:cNvPr>
          <p:cNvPicPr>
            <a:picLocks noChangeAspect="1"/>
          </p:cNvPicPr>
          <p:nvPr/>
        </p:nvPicPr>
        <p:blipFill>
          <a:blip r:embed="rId2"/>
          <a:stretch>
            <a:fillRect/>
          </a:stretch>
        </p:blipFill>
        <p:spPr>
          <a:xfrm>
            <a:off x="4549233" y="4205349"/>
            <a:ext cx="3463006" cy="2420534"/>
          </a:xfrm>
          <a:prstGeom prst="rect">
            <a:avLst/>
          </a:prstGeom>
        </p:spPr>
      </p:pic>
    </p:spTree>
    <p:extLst>
      <p:ext uri="{BB962C8B-B14F-4D97-AF65-F5344CB8AC3E}">
        <p14:creationId xmlns:p14="http://schemas.microsoft.com/office/powerpoint/2010/main" val="32962416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956AFED-D82C-F185-6AB0-014B51B87924}"/>
              </a:ext>
            </a:extLst>
          </p:cNvPr>
          <p:cNvSpPr>
            <a:spLocks noGrp="1"/>
          </p:cNvSpPr>
          <p:nvPr>
            <p:ph type="title"/>
          </p:nvPr>
        </p:nvSpPr>
        <p:spPr/>
        <p:txBody>
          <a:bodyPr/>
          <a:lstStyle/>
          <a:p>
            <a:r>
              <a:rPr lang="es-MX" dirty="0"/>
              <a:t>MANEJO DE OBJETOS DEL SERVIDOR</a:t>
            </a:r>
          </a:p>
        </p:txBody>
      </p:sp>
      <p:sp>
        <p:nvSpPr>
          <p:cNvPr id="3" name="Marcador de contenido 2">
            <a:extLst>
              <a:ext uri="{FF2B5EF4-FFF2-40B4-BE49-F238E27FC236}">
                <a16:creationId xmlns:a16="http://schemas.microsoft.com/office/drawing/2014/main" id="{4EF21615-D4AA-CB9A-56EC-C619AF0FC96E}"/>
              </a:ext>
            </a:extLst>
          </p:cNvPr>
          <p:cNvSpPr>
            <a:spLocks noGrp="1"/>
          </p:cNvSpPr>
          <p:nvPr>
            <p:ph idx="1"/>
          </p:nvPr>
        </p:nvSpPr>
        <p:spPr/>
        <p:txBody>
          <a:bodyPr/>
          <a:lstStyle/>
          <a:p>
            <a:pPr marL="0" indent="0">
              <a:buNone/>
            </a:pPr>
            <a:r>
              <a:rPr lang="es-MX" dirty="0"/>
              <a:t>Mediante este punto abordaremos en como se conecta nuestra aplicación a el servidor que en mi caso es una base de datos donde se almacena la información que la base de datos se llama </a:t>
            </a:r>
            <a:r>
              <a:rPr lang="es-MX" dirty="0" err="1"/>
              <a:t>supa</a:t>
            </a:r>
            <a:r>
              <a:rPr lang="es-MX" dirty="0"/>
              <a:t> base, para la conexión de base de datos le demos que poner el </a:t>
            </a:r>
            <a:r>
              <a:rPr lang="es-MX" dirty="0" err="1"/>
              <a:t>url</a:t>
            </a:r>
            <a:r>
              <a:rPr lang="es-MX" dirty="0"/>
              <a:t> que nos aparece en </a:t>
            </a:r>
            <a:r>
              <a:rPr lang="es-MX" dirty="0" err="1"/>
              <a:t>supabase</a:t>
            </a:r>
            <a:r>
              <a:rPr lang="es-MX" dirty="0"/>
              <a:t> y la clave </a:t>
            </a:r>
            <a:r>
              <a:rPr lang="es-MX" dirty="0" err="1"/>
              <a:t>anon</a:t>
            </a:r>
            <a:r>
              <a:rPr lang="es-MX" dirty="0"/>
              <a:t> </a:t>
            </a:r>
            <a:r>
              <a:rPr lang="es-MX" dirty="0" err="1"/>
              <a:t>public</a:t>
            </a:r>
            <a:r>
              <a:rPr lang="es-MX" dirty="0"/>
              <a:t> para que se conecte y así quedaría el código dentro de visual </a:t>
            </a:r>
            <a:r>
              <a:rPr lang="es-MX" dirty="0" err="1"/>
              <a:t>studio</a:t>
            </a:r>
            <a:r>
              <a:rPr lang="es-MX" dirty="0"/>
              <a:t> </a:t>
            </a:r>
            <a:r>
              <a:rPr lang="es-MX" dirty="0" err="1"/>
              <a:t>code</a:t>
            </a:r>
            <a:r>
              <a:rPr lang="es-MX" dirty="0"/>
              <a:t>.</a:t>
            </a:r>
          </a:p>
          <a:p>
            <a:pPr marL="0" indent="0">
              <a:buNone/>
            </a:pPr>
            <a:endParaRPr lang="es-MX" dirty="0"/>
          </a:p>
        </p:txBody>
      </p:sp>
      <p:pic>
        <p:nvPicPr>
          <p:cNvPr id="5" name="Imagen 4">
            <a:extLst>
              <a:ext uri="{FF2B5EF4-FFF2-40B4-BE49-F238E27FC236}">
                <a16:creationId xmlns:a16="http://schemas.microsoft.com/office/drawing/2014/main" id="{37D70733-D43F-DE6E-C995-202076370A0A}"/>
              </a:ext>
            </a:extLst>
          </p:cNvPr>
          <p:cNvPicPr>
            <a:picLocks noChangeAspect="1"/>
          </p:cNvPicPr>
          <p:nvPr/>
        </p:nvPicPr>
        <p:blipFill>
          <a:blip r:embed="rId2"/>
          <a:stretch>
            <a:fillRect/>
          </a:stretch>
        </p:blipFill>
        <p:spPr>
          <a:xfrm>
            <a:off x="4529796" y="4355677"/>
            <a:ext cx="3815211" cy="2137198"/>
          </a:xfrm>
          <a:prstGeom prst="rect">
            <a:avLst/>
          </a:prstGeom>
        </p:spPr>
      </p:pic>
    </p:spTree>
    <p:extLst>
      <p:ext uri="{BB962C8B-B14F-4D97-AF65-F5344CB8AC3E}">
        <p14:creationId xmlns:p14="http://schemas.microsoft.com/office/powerpoint/2010/main" val="6315123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0DB1BA9-0B6F-C658-D19C-9CAD7C4DBF4D}"/>
              </a:ext>
            </a:extLst>
          </p:cNvPr>
          <p:cNvSpPr>
            <a:spLocks noGrp="1"/>
          </p:cNvSpPr>
          <p:nvPr>
            <p:ph type="title"/>
          </p:nvPr>
        </p:nvSpPr>
        <p:spPr/>
        <p:txBody>
          <a:bodyPr/>
          <a:lstStyle/>
          <a:p>
            <a:r>
              <a:rPr lang="es-MX" dirty="0"/>
              <a:t>CREACIÓN DE CLASES</a:t>
            </a:r>
          </a:p>
        </p:txBody>
      </p:sp>
      <p:sp>
        <p:nvSpPr>
          <p:cNvPr id="3" name="Marcador de contenido 2">
            <a:extLst>
              <a:ext uri="{FF2B5EF4-FFF2-40B4-BE49-F238E27FC236}">
                <a16:creationId xmlns:a16="http://schemas.microsoft.com/office/drawing/2014/main" id="{6AE84EE6-1880-960B-4DBD-0AEE7442AD87}"/>
              </a:ext>
            </a:extLst>
          </p:cNvPr>
          <p:cNvSpPr>
            <a:spLocks noGrp="1"/>
          </p:cNvSpPr>
          <p:nvPr>
            <p:ph idx="1"/>
          </p:nvPr>
        </p:nvSpPr>
        <p:spPr/>
        <p:txBody>
          <a:bodyPr/>
          <a:lstStyle/>
          <a:p>
            <a:pPr marL="0" indent="0">
              <a:buNone/>
            </a:pPr>
            <a:r>
              <a:rPr lang="es-MX" dirty="0"/>
              <a:t>En este puto angular trabaja con clases  y componentes y servicios los cuales fueron implementadas dentro de visual </a:t>
            </a:r>
            <a:r>
              <a:rPr lang="es-MX" dirty="0" err="1"/>
              <a:t>studio</a:t>
            </a:r>
            <a:r>
              <a:rPr lang="es-MX" dirty="0"/>
              <a:t> </a:t>
            </a:r>
            <a:r>
              <a:rPr lang="es-MX" dirty="0" err="1"/>
              <a:t>code</a:t>
            </a:r>
            <a:r>
              <a:rPr lang="es-MX" dirty="0"/>
              <a:t> con la finalidad de crear las interfaces.</a:t>
            </a:r>
          </a:p>
          <a:p>
            <a:pPr marL="0" indent="0">
              <a:buNone/>
            </a:pPr>
            <a:endParaRPr lang="es-MX" dirty="0"/>
          </a:p>
        </p:txBody>
      </p:sp>
      <p:pic>
        <p:nvPicPr>
          <p:cNvPr id="5" name="Imagen 4">
            <a:extLst>
              <a:ext uri="{FF2B5EF4-FFF2-40B4-BE49-F238E27FC236}">
                <a16:creationId xmlns:a16="http://schemas.microsoft.com/office/drawing/2014/main" id="{E96A13B0-C2BC-CFCC-4FB7-6318AF70A6D9}"/>
              </a:ext>
            </a:extLst>
          </p:cNvPr>
          <p:cNvPicPr>
            <a:picLocks noChangeAspect="1"/>
          </p:cNvPicPr>
          <p:nvPr/>
        </p:nvPicPr>
        <p:blipFill>
          <a:blip r:embed="rId2"/>
          <a:stretch>
            <a:fillRect/>
          </a:stretch>
        </p:blipFill>
        <p:spPr>
          <a:xfrm>
            <a:off x="838200" y="3429000"/>
            <a:ext cx="4420217" cy="809738"/>
          </a:xfrm>
          <a:prstGeom prst="rect">
            <a:avLst/>
          </a:prstGeom>
        </p:spPr>
      </p:pic>
      <p:pic>
        <p:nvPicPr>
          <p:cNvPr id="7" name="Imagen 6">
            <a:extLst>
              <a:ext uri="{FF2B5EF4-FFF2-40B4-BE49-F238E27FC236}">
                <a16:creationId xmlns:a16="http://schemas.microsoft.com/office/drawing/2014/main" id="{0596A7F1-6925-A5D8-B1F8-68DA60914E02}"/>
              </a:ext>
            </a:extLst>
          </p:cNvPr>
          <p:cNvPicPr>
            <a:picLocks noChangeAspect="1"/>
          </p:cNvPicPr>
          <p:nvPr/>
        </p:nvPicPr>
        <p:blipFill>
          <a:blip r:embed="rId3"/>
          <a:stretch>
            <a:fillRect/>
          </a:stretch>
        </p:blipFill>
        <p:spPr>
          <a:xfrm>
            <a:off x="5946651" y="3505210"/>
            <a:ext cx="3534268" cy="657317"/>
          </a:xfrm>
          <a:prstGeom prst="rect">
            <a:avLst/>
          </a:prstGeom>
        </p:spPr>
      </p:pic>
      <p:pic>
        <p:nvPicPr>
          <p:cNvPr id="9" name="Imagen 8">
            <a:extLst>
              <a:ext uri="{FF2B5EF4-FFF2-40B4-BE49-F238E27FC236}">
                <a16:creationId xmlns:a16="http://schemas.microsoft.com/office/drawing/2014/main" id="{33C6B673-4509-F075-3AC4-247F8D8F8DA2}"/>
              </a:ext>
            </a:extLst>
          </p:cNvPr>
          <p:cNvPicPr>
            <a:picLocks noChangeAspect="1"/>
          </p:cNvPicPr>
          <p:nvPr/>
        </p:nvPicPr>
        <p:blipFill>
          <a:blip r:embed="rId4"/>
          <a:stretch>
            <a:fillRect/>
          </a:stretch>
        </p:blipFill>
        <p:spPr>
          <a:xfrm>
            <a:off x="838200" y="4722007"/>
            <a:ext cx="4877481" cy="971686"/>
          </a:xfrm>
          <a:prstGeom prst="rect">
            <a:avLst/>
          </a:prstGeom>
        </p:spPr>
      </p:pic>
      <p:pic>
        <p:nvPicPr>
          <p:cNvPr id="11" name="Imagen 10">
            <a:extLst>
              <a:ext uri="{FF2B5EF4-FFF2-40B4-BE49-F238E27FC236}">
                <a16:creationId xmlns:a16="http://schemas.microsoft.com/office/drawing/2014/main" id="{CB486BED-3505-E974-50F0-734FBAE0DF4E}"/>
              </a:ext>
            </a:extLst>
          </p:cNvPr>
          <p:cNvPicPr>
            <a:picLocks noChangeAspect="1"/>
          </p:cNvPicPr>
          <p:nvPr/>
        </p:nvPicPr>
        <p:blipFill>
          <a:blip r:embed="rId5"/>
          <a:stretch>
            <a:fillRect/>
          </a:stretch>
        </p:blipFill>
        <p:spPr>
          <a:xfrm>
            <a:off x="5946651" y="4836323"/>
            <a:ext cx="3162741" cy="333422"/>
          </a:xfrm>
          <a:prstGeom prst="rect">
            <a:avLst/>
          </a:prstGeom>
        </p:spPr>
      </p:pic>
    </p:spTree>
    <p:extLst>
      <p:ext uri="{BB962C8B-B14F-4D97-AF65-F5344CB8AC3E}">
        <p14:creationId xmlns:p14="http://schemas.microsoft.com/office/powerpoint/2010/main" val="6986691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354ACDC-BFCA-D57E-236D-BDFE65F1CD7A}"/>
              </a:ext>
            </a:extLst>
          </p:cNvPr>
          <p:cNvSpPr>
            <a:spLocks noGrp="1"/>
          </p:cNvSpPr>
          <p:nvPr>
            <p:ph type="title"/>
          </p:nvPr>
        </p:nvSpPr>
        <p:spPr/>
        <p:txBody>
          <a:bodyPr/>
          <a:lstStyle/>
          <a:p>
            <a:r>
              <a:rPr lang="es-MX" dirty="0"/>
              <a:t>ACCESO A DATOS</a:t>
            </a:r>
          </a:p>
        </p:txBody>
      </p:sp>
      <p:sp>
        <p:nvSpPr>
          <p:cNvPr id="3" name="Marcador de contenido 2">
            <a:extLst>
              <a:ext uri="{FF2B5EF4-FFF2-40B4-BE49-F238E27FC236}">
                <a16:creationId xmlns:a16="http://schemas.microsoft.com/office/drawing/2014/main" id="{7BD70A3A-7BFF-0B01-E85C-52B660FE332F}"/>
              </a:ext>
            </a:extLst>
          </p:cNvPr>
          <p:cNvSpPr>
            <a:spLocks noGrp="1"/>
          </p:cNvSpPr>
          <p:nvPr>
            <p:ph idx="1"/>
          </p:nvPr>
        </p:nvSpPr>
        <p:spPr/>
        <p:txBody>
          <a:bodyPr/>
          <a:lstStyle/>
          <a:p>
            <a:pPr marL="0" indent="0">
              <a:buNone/>
            </a:pPr>
            <a:r>
              <a:rPr lang="es-MX" dirty="0"/>
              <a:t>En este punto referente a nuestro proyecto son donde se consultan las pizzas y el registro de pedidos donde se codifico en visual </a:t>
            </a:r>
            <a:r>
              <a:rPr lang="es-MX" dirty="0" err="1"/>
              <a:t>studio</a:t>
            </a:r>
            <a:r>
              <a:rPr lang="es-MX" dirty="0"/>
              <a:t> </a:t>
            </a:r>
            <a:r>
              <a:rPr lang="es-MX" dirty="0" err="1"/>
              <a:t>code</a:t>
            </a:r>
            <a:r>
              <a:rPr lang="es-MX" dirty="0"/>
              <a:t>.</a:t>
            </a:r>
          </a:p>
          <a:p>
            <a:pPr marL="0" indent="0">
              <a:buNone/>
            </a:pPr>
            <a:endParaRPr lang="es-MX" dirty="0"/>
          </a:p>
        </p:txBody>
      </p:sp>
      <p:pic>
        <p:nvPicPr>
          <p:cNvPr id="5" name="Imagen 4">
            <a:extLst>
              <a:ext uri="{FF2B5EF4-FFF2-40B4-BE49-F238E27FC236}">
                <a16:creationId xmlns:a16="http://schemas.microsoft.com/office/drawing/2014/main" id="{9EBA5BBA-E621-7FA1-8DEE-C0863C34D982}"/>
              </a:ext>
            </a:extLst>
          </p:cNvPr>
          <p:cNvPicPr>
            <a:picLocks noChangeAspect="1"/>
          </p:cNvPicPr>
          <p:nvPr/>
        </p:nvPicPr>
        <p:blipFill>
          <a:blip r:embed="rId2"/>
          <a:stretch>
            <a:fillRect/>
          </a:stretch>
        </p:blipFill>
        <p:spPr>
          <a:xfrm>
            <a:off x="871025" y="3523957"/>
            <a:ext cx="2753109" cy="676369"/>
          </a:xfrm>
          <a:prstGeom prst="rect">
            <a:avLst/>
          </a:prstGeom>
        </p:spPr>
      </p:pic>
      <p:pic>
        <p:nvPicPr>
          <p:cNvPr id="7" name="Imagen 6">
            <a:extLst>
              <a:ext uri="{FF2B5EF4-FFF2-40B4-BE49-F238E27FC236}">
                <a16:creationId xmlns:a16="http://schemas.microsoft.com/office/drawing/2014/main" id="{C5891DEF-C8AF-FB9C-460E-E8C3E6B2E263}"/>
              </a:ext>
            </a:extLst>
          </p:cNvPr>
          <p:cNvPicPr>
            <a:picLocks noChangeAspect="1"/>
          </p:cNvPicPr>
          <p:nvPr/>
        </p:nvPicPr>
        <p:blipFill>
          <a:blip r:embed="rId3"/>
          <a:stretch>
            <a:fillRect/>
          </a:stretch>
        </p:blipFill>
        <p:spPr>
          <a:xfrm>
            <a:off x="6399594" y="3720267"/>
            <a:ext cx="2572109" cy="562053"/>
          </a:xfrm>
          <a:prstGeom prst="rect">
            <a:avLst/>
          </a:prstGeom>
        </p:spPr>
      </p:pic>
    </p:spTree>
    <p:extLst>
      <p:ext uri="{BB962C8B-B14F-4D97-AF65-F5344CB8AC3E}">
        <p14:creationId xmlns:p14="http://schemas.microsoft.com/office/powerpoint/2010/main" val="8782748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69BDEE-1010-57E6-4C00-51CD98920BCE}"/>
              </a:ext>
            </a:extLst>
          </p:cNvPr>
          <p:cNvSpPr>
            <a:spLocks noGrp="1"/>
          </p:cNvSpPr>
          <p:nvPr>
            <p:ph type="title"/>
          </p:nvPr>
        </p:nvSpPr>
        <p:spPr/>
        <p:txBody>
          <a:bodyPr/>
          <a:lstStyle/>
          <a:p>
            <a:r>
              <a:rPr lang="es-MX" dirty="0"/>
              <a:t>CONCLUSIÓN PERSONAL</a:t>
            </a:r>
          </a:p>
        </p:txBody>
      </p:sp>
      <p:sp>
        <p:nvSpPr>
          <p:cNvPr id="3" name="Marcador de contenido 2">
            <a:extLst>
              <a:ext uri="{FF2B5EF4-FFF2-40B4-BE49-F238E27FC236}">
                <a16:creationId xmlns:a16="http://schemas.microsoft.com/office/drawing/2014/main" id="{A270A34E-0397-729A-AEA2-0B03CE6A21B8}"/>
              </a:ext>
            </a:extLst>
          </p:cNvPr>
          <p:cNvSpPr>
            <a:spLocks noGrp="1"/>
          </p:cNvSpPr>
          <p:nvPr>
            <p:ph idx="1"/>
          </p:nvPr>
        </p:nvSpPr>
        <p:spPr/>
        <p:txBody>
          <a:bodyPr>
            <a:normAutofit/>
          </a:bodyPr>
          <a:lstStyle/>
          <a:p>
            <a:pPr marL="0" indent="0" algn="just">
              <a:buNone/>
            </a:pPr>
            <a:r>
              <a:rPr lang="es-MX" dirty="0"/>
              <a:t>La realización de esta práctica permitió comprender la importancia de la programación del lado del servidor en el desarrollo de aplicaciones web modernas. Mediante la implementación de la aplicación "Pizzas </a:t>
            </a:r>
            <a:r>
              <a:rPr lang="es-MX" dirty="0" err="1"/>
              <a:t>Kids</a:t>
            </a:r>
            <a:r>
              <a:rPr lang="es-MX" dirty="0"/>
              <a:t>" fue posible integrar una interfaz dinámica desarrollada con Angular y una base de datos en la nube mediante </a:t>
            </a:r>
            <a:r>
              <a:rPr lang="es-MX" dirty="0" err="1"/>
              <a:t>Supabase</a:t>
            </a:r>
            <a:r>
              <a:rPr lang="es-MX" dirty="0"/>
              <a:t>, permitiendo almacenar y gestionar información de manera eficiente. Asimismo, se aplicaron conceptos relacionados con estructuras de control, formularios, creación de clases y acceso a datos, fortaleciendo los conocimientos adquiridos durante la unidad. Como resultado se obtuvo una aplicación funcional capaz de gestionar pedidos de una pizzería, demostrando cómo las tecnologías actuales facilitan el desarrollo de soluciones web completas y escalables.</a:t>
            </a:r>
          </a:p>
          <a:p>
            <a:pPr marL="0" indent="0">
              <a:buNone/>
            </a:pPr>
            <a:endParaRPr lang="es-MX" dirty="0"/>
          </a:p>
        </p:txBody>
      </p:sp>
    </p:spTree>
    <p:extLst>
      <p:ext uri="{BB962C8B-B14F-4D97-AF65-F5344CB8AC3E}">
        <p14:creationId xmlns:p14="http://schemas.microsoft.com/office/powerpoint/2010/main" val="7161128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DBD3A28-50ED-89BB-415D-EFE21333DD15}"/>
              </a:ext>
            </a:extLst>
          </p:cNvPr>
          <p:cNvSpPr>
            <a:spLocks noGrp="1"/>
          </p:cNvSpPr>
          <p:nvPr>
            <p:ph type="title"/>
          </p:nvPr>
        </p:nvSpPr>
        <p:spPr/>
        <p:txBody>
          <a:bodyPr/>
          <a:lstStyle/>
          <a:p>
            <a:r>
              <a:rPr lang="es-MX" dirty="0"/>
              <a:t>REFERENCIAS BIBLIOGRAFICAS</a:t>
            </a:r>
          </a:p>
        </p:txBody>
      </p:sp>
      <p:sp>
        <p:nvSpPr>
          <p:cNvPr id="3" name="Marcador de contenido 2">
            <a:extLst>
              <a:ext uri="{FF2B5EF4-FFF2-40B4-BE49-F238E27FC236}">
                <a16:creationId xmlns:a16="http://schemas.microsoft.com/office/drawing/2014/main" id="{32C3494F-02FD-78B6-500D-39A42459B5A7}"/>
              </a:ext>
            </a:extLst>
          </p:cNvPr>
          <p:cNvSpPr>
            <a:spLocks noGrp="1"/>
          </p:cNvSpPr>
          <p:nvPr>
            <p:ph idx="1"/>
          </p:nvPr>
        </p:nvSpPr>
        <p:spPr/>
        <p:txBody>
          <a:bodyPr/>
          <a:lstStyle/>
          <a:p>
            <a:pPr marL="514350" indent="-514350">
              <a:buFont typeface="+mj-lt"/>
              <a:buAutoNum type="arabicPeriod"/>
            </a:pPr>
            <a:r>
              <a:rPr lang="es-MX" dirty="0">
                <a:hlinkClick r:id="rId2"/>
              </a:rPr>
              <a:t>Angular </a:t>
            </a:r>
            <a:r>
              <a:rPr lang="es-MX" dirty="0" err="1">
                <a:hlinkClick r:id="rId2"/>
              </a:rPr>
              <a:t>Documentation</a:t>
            </a:r>
            <a:r>
              <a:rPr lang="es-MX" dirty="0"/>
              <a:t>  </a:t>
            </a:r>
          </a:p>
          <a:p>
            <a:pPr marL="514350" indent="-514350">
              <a:buFont typeface="+mj-lt"/>
              <a:buAutoNum type="arabicPeriod"/>
            </a:pPr>
            <a:r>
              <a:rPr lang="es-MX" dirty="0" err="1">
                <a:hlinkClick r:id="rId3"/>
              </a:rPr>
              <a:t>TypeScript</a:t>
            </a:r>
            <a:r>
              <a:rPr lang="es-MX" dirty="0">
                <a:hlinkClick r:id="rId3"/>
              </a:rPr>
              <a:t> </a:t>
            </a:r>
            <a:r>
              <a:rPr lang="es-MX" dirty="0" err="1">
                <a:hlinkClick r:id="rId3"/>
              </a:rPr>
              <a:t>Documentation</a:t>
            </a:r>
            <a:r>
              <a:rPr lang="es-MX" dirty="0"/>
              <a:t> </a:t>
            </a:r>
          </a:p>
          <a:p>
            <a:pPr marL="514350" indent="-514350">
              <a:buFont typeface="+mj-lt"/>
              <a:buAutoNum type="arabicPeriod"/>
            </a:pPr>
            <a:r>
              <a:rPr lang="es-MX" dirty="0" err="1">
                <a:hlinkClick r:id="rId4"/>
              </a:rPr>
              <a:t>Supabase</a:t>
            </a:r>
            <a:r>
              <a:rPr lang="es-MX" dirty="0">
                <a:hlinkClick r:id="rId4"/>
              </a:rPr>
              <a:t> </a:t>
            </a:r>
            <a:r>
              <a:rPr lang="es-MX" dirty="0" err="1">
                <a:hlinkClick r:id="rId4"/>
              </a:rPr>
              <a:t>Documentation</a:t>
            </a:r>
            <a:r>
              <a:rPr lang="es-MX" dirty="0"/>
              <a:t> </a:t>
            </a:r>
          </a:p>
          <a:p>
            <a:pPr marL="514350" indent="-514350">
              <a:buFont typeface="+mj-lt"/>
              <a:buAutoNum type="arabicPeriod"/>
            </a:pPr>
            <a:r>
              <a:rPr lang="es-MX" dirty="0">
                <a:hlinkClick r:id="rId5"/>
              </a:rPr>
              <a:t>Node.js </a:t>
            </a:r>
            <a:r>
              <a:rPr lang="es-MX" dirty="0" err="1">
                <a:hlinkClick r:id="rId5"/>
              </a:rPr>
              <a:t>Documentation</a:t>
            </a:r>
            <a:endParaRPr lang="es-MX" dirty="0"/>
          </a:p>
        </p:txBody>
      </p:sp>
    </p:spTree>
    <p:extLst>
      <p:ext uri="{BB962C8B-B14F-4D97-AF65-F5344CB8AC3E}">
        <p14:creationId xmlns:p14="http://schemas.microsoft.com/office/powerpoint/2010/main" val="30019210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FC0BE4-70C4-7F77-0416-117F76862359}"/>
              </a:ext>
            </a:extLst>
          </p:cNvPr>
          <p:cNvSpPr>
            <a:spLocks noGrp="1"/>
          </p:cNvSpPr>
          <p:nvPr>
            <p:ph type="title"/>
          </p:nvPr>
        </p:nvSpPr>
        <p:spPr/>
        <p:txBody>
          <a:bodyPr/>
          <a:lstStyle/>
          <a:p>
            <a:r>
              <a:rPr lang="es-MX" dirty="0"/>
              <a:t>Anexo enlace de </a:t>
            </a:r>
            <a:r>
              <a:rPr lang="es-MX" dirty="0" err="1"/>
              <a:t>git</a:t>
            </a:r>
            <a:endParaRPr lang="es-MX" dirty="0"/>
          </a:p>
        </p:txBody>
      </p:sp>
      <p:sp>
        <p:nvSpPr>
          <p:cNvPr id="3" name="Marcador de contenido 2">
            <a:extLst>
              <a:ext uri="{FF2B5EF4-FFF2-40B4-BE49-F238E27FC236}">
                <a16:creationId xmlns:a16="http://schemas.microsoft.com/office/drawing/2014/main" id="{1A70C2D1-BBDA-6379-F1AB-42C29A58A13A}"/>
              </a:ext>
            </a:extLst>
          </p:cNvPr>
          <p:cNvSpPr>
            <a:spLocks noGrp="1"/>
          </p:cNvSpPr>
          <p:nvPr>
            <p:ph idx="1"/>
          </p:nvPr>
        </p:nvSpPr>
        <p:spPr/>
        <p:txBody>
          <a:bodyPr/>
          <a:lstStyle/>
          <a:p>
            <a:pPr marL="0" indent="0">
              <a:buNone/>
            </a:pPr>
            <a:r>
              <a:rPr lang="es-MX" dirty="0">
                <a:hlinkClick r:id="rId2"/>
              </a:rPr>
              <a:t>https://github.com/reynaldomorales1731-tech/PW-ISC8M.git</a:t>
            </a:r>
            <a:endParaRPr lang="es-MX" dirty="0"/>
          </a:p>
          <a:p>
            <a:pPr marL="0" indent="0">
              <a:buNone/>
            </a:pPr>
            <a:endParaRPr lang="es-MX" dirty="0"/>
          </a:p>
          <a:p>
            <a:pPr marL="0" indent="0">
              <a:buNone/>
            </a:pPr>
            <a:endParaRPr lang="es-MX"/>
          </a:p>
          <a:p>
            <a:pPr marL="0" indent="0">
              <a:buNone/>
            </a:pPr>
            <a:endParaRPr lang="es-MX"/>
          </a:p>
        </p:txBody>
      </p:sp>
    </p:spTree>
    <p:extLst>
      <p:ext uri="{BB962C8B-B14F-4D97-AF65-F5344CB8AC3E}">
        <p14:creationId xmlns:p14="http://schemas.microsoft.com/office/powerpoint/2010/main" val="2253622883"/>
      </p:ext>
    </p:extLst>
  </p:cSld>
  <p:clrMapOvr>
    <a:masterClrMapping/>
  </p:clrMapOvr>
</p:sld>
</file>

<file path=ppt/theme/theme1.xml><?xml version="1.0" encoding="utf-8"?>
<a:theme xmlns:a="http://schemas.openxmlformats.org/drawingml/2006/main" name="Faceta">
  <a:themeElements>
    <a:clrScheme name="Faceta">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a">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a">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8C59B386-999D-4CB6-B907-9F3997C027CC}"/>
    </a:ext>
  </a:extLst>
</a:theme>
</file>

<file path=docProps/app.xml><?xml version="1.0" encoding="utf-8"?>
<Properties xmlns="http://schemas.openxmlformats.org/officeDocument/2006/extended-properties" xmlns:vt="http://schemas.openxmlformats.org/officeDocument/2006/docPropsVTypes">
  <Template>Facet</Template>
  <TotalTime>46</TotalTime>
  <Words>835</Words>
  <Application>Microsoft Office PowerPoint</Application>
  <PresentationFormat>Panorámica</PresentationFormat>
  <Paragraphs>43</Paragraphs>
  <Slides>12</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12</vt:i4>
      </vt:variant>
    </vt:vector>
  </HeadingPairs>
  <TitlesOfParts>
    <vt:vector size="16" baseType="lpstr">
      <vt:lpstr>Arial</vt:lpstr>
      <vt:lpstr>Trebuchet MS</vt:lpstr>
      <vt:lpstr>Wingdings 3</vt:lpstr>
      <vt:lpstr>Faceta</vt:lpstr>
      <vt:lpstr>Presentación de PowerPoint</vt:lpstr>
      <vt:lpstr>INTRODUCCIÓN</vt:lpstr>
      <vt:lpstr>JUSTIFICACIÓN</vt:lpstr>
      <vt:lpstr>INTRODUCCION AL LENGUAJE</vt:lpstr>
      <vt:lpstr>ESTRUCTURAS DE CONTROL</vt:lpstr>
      <vt:lpstr>TRATAMIENTO DE FORMULARIOS</vt:lpstr>
      <vt:lpstr>MANEJO DE OBJETOS DEL SERVIDOR</vt:lpstr>
      <vt:lpstr>CREACIÓN DE CLASES</vt:lpstr>
      <vt:lpstr>ACCESO A DATOS</vt:lpstr>
      <vt:lpstr>CONCLUSIÓN PERSONAL</vt:lpstr>
      <vt:lpstr>REFERENCIAS BIBLIOGRAFICAS</vt:lpstr>
      <vt:lpstr>Anexo enlace de git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MORALES SILVA REYNALDO FELIPE</dc:creator>
  <cp:lastModifiedBy>MORALES SILVA REYNALDO FELIPE</cp:lastModifiedBy>
  <cp:revision>4</cp:revision>
  <dcterms:created xsi:type="dcterms:W3CDTF">2026-06-07T14:52:41Z</dcterms:created>
  <dcterms:modified xsi:type="dcterms:W3CDTF">2026-06-12T02:18:00Z</dcterms:modified>
</cp:coreProperties>
</file>
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41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1908945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78AD654-678E-41F0-9175-823376869CCD}"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4787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78AD654-678E-41F0-9175-823376869CCD}"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2814799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78AD654-678E-41F0-9175-823376869CCD}" type="datetimeFigureOut">
              <a:rPr lang="es-MX" smtClean="0"/>
              <a:t>11/06/2026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4178870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78AD654-678E-41F0-9175-823376869CCD}" type="datetimeFigureOut">
              <a:rPr lang="es-MX" smtClean="0"/>
              <a:t>11/06/2026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4171185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78AD654-678E-41F0-9175-823376869CCD}" type="datetimeFigureOut">
              <a:rPr lang="es-MX" smtClean="0"/>
              <a:t>11/06/2026</a:t>
            </a:fld>
            <a:endParaRPr lang="es-MX"/>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MX"/>
          </a:p>
        </p:txBody>
      </p:sp>
      <p:sp>
        <p:nvSpPr>
          <p:cNvPr id="9" name="Slide Number Placeholder 8"/>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110055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78AD654-678E-41F0-9175-823376869CCD}" type="datetimeFigureOut">
              <a:rPr lang="es-MX" smtClean="0"/>
              <a:t>11/06/2026</a:t>
            </a:fld>
            <a:endParaRPr lang="es-MX"/>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MX"/>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65CAB01-79A7-456C-A1AC-E44864D21D1C}" type="slidenum">
              <a:rPr lang="es-MX" smtClean="0"/>
              <a:t>‹Nº›</a:t>
            </a:fld>
            <a:endParaRPr lang="es-MX"/>
          </a:p>
        </p:txBody>
      </p:sp>
    </p:spTree>
    <p:extLst>
      <p:ext uri="{BB962C8B-B14F-4D97-AF65-F5344CB8AC3E}">
        <p14:creationId xmlns:p14="http://schemas.microsoft.com/office/powerpoint/2010/main" val="76160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78AD654-678E-41F0-9175-823376869CCD}" type="datetimeFigureOut">
              <a:rPr lang="es-MX" smtClean="0"/>
              <a:t>11/06/2026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77527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1277274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78AD654-678E-41F0-9175-823376869CCD}" type="datetimeFigureOut">
              <a:rPr lang="es-MX" smtClean="0"/>
              <a:t>11/06/2026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965CAB01-79A7-456C-A1AC-E44864D21D1C}" type="slidenum">
              <a:rPr lang="es-MX" smtClean="0"/>
              <a:t>‹Nº›</a:t>
            </a:fld>
            <a:endParaRPr lang="es-MX"/>
          </a:p>
        </p:txBody>
      </p:sp>
    </p:spTree>
    <p:extLst>
      <p:ext uri="{BB962C8B-B14F-4D97-AF65-F5344CB8AC3E}">
        <p14:creationId xmlns:p14="http://schemas.microsoft.com/office/powerpoint/2010/main" val="68846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78AD654-678E-41F0-9175-823376869CCD}" type="datetimeFigureOut">
              <a:rPr lang="es-MX" smtClean="0"/>
              <a:t>11/06/2026</a:t>
            </a:fld>
            <a:endParaRPr lang="es-MX"/>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MX"/>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65CAB01-79A7-456C-A1AC-E44864D21D1C}" type="slidenum">
              <a:rPr lang="es-MX" smtClean="0"/>
              <a:t>‹Nº›</a:t>
            </a:fld>
            <a:endParaRPr lang="es-MX"/>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3864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reynaldomorales1731-tech/PW-ISC8M.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Logotipo&#10;&#10;El contenido generado por IA puede ser incorrecto.">
            <a:extLst>
              <a:ext uri="{FF2B5EF4-FFF2-40B4-BE49-F238E27FC236}">
                <a16:creationId xmlns:a16="http://schemas.microsoft.com/office/drawing/2014/main" id="{1E7B54DB-1CF9-9E42-C613-C10A0E0AF911}"/>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7" name="Imagen 6" descr="Logotipo, nombre de la empresa&#10;&#10;El contenido generado por IA puede ser incorrecto.">
            <a:extLst>
              <a:ext uri="{FF2B5EF4-FFF2-40B4-BE49-F238E27FC236}">
                <a16:creationId xmlns:a16="http://schemas.microsoft.com/office/drawing/2014/main" id="{96B43EFA-CD3B-4969-01B2-F646DA2336C2}"/>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9" name="Imagen 8" descr="Diagrama&#10;&#10;El contenido generado por IA puede ser incorrecto.">
            <a:extLst>
              <a:ext uri="{FF2B5EF4-FFF2-40B4-BE49-F238E27FC236}">
                <a16:creationId xmlns:a16="http://schemas.microsoft.com/office/drawing/2014/main" id="{F68FB9EE-32B1-8BB7-1B2E-D1919D769C95}"/>
              </a:ext>
            </a:extLst>
          </p:cNvPr>
          <p:cNvPicPr>
            <a:picLocks noChangeAspect="1"/>
          </p:cNvPicPr>
          <p:nvPr/>
        </p:nvPicPr>
        <p:blipFill>
          <a:blip r:embed="rId4"/>
          <a:stretch>
            <a:fillRect/>
          </a:stretch>
        </p:blipFill>
        <p:spPr>
          <a:xfrm>
            <a:off x="9308172" y="754002"/>
            <a:ext cx="1396941" cy="950524"/>
          </a:xfrm>
          <a:prstGeom prst="rect">
            <a:avLst/>
          </a:prstGeom>
        </p:spPr>
      </p:pic>
      <p:sp>
        <p:nvSpPr>
          <p:cNvPr id="11" name="CuadroTexto 10">
            <a:extLst>
              <a:ext uri="{FF2B5EF4-FFF2-40B4-BE49-F238E27FC236}">
                <a16:creationId xmlns:a16="http://schemas.microsoft.com/office/drawing/2014/main" id="{0098C8C0-A44C-6BF7-54FB-C175B7AEEF06}"/>
              </a:ext>
            </a:extLst>
          </p:cNvPr>
          <p:cNvSpPr txBox="1"/>
          <p:nvPr/>
        </p:nvSpPr>
        <p:spPr>
          <a:xfrm>
            <a:off x="2866292" y="2075548"/>
            <a:ext cx="6098344" cy="4247317"/>
          </a:xfrm>
          <a:prstGeom prst="rect">
            <a:avLst/>
          </a:prstGeom>
          <a:noFill/>
        </p:spPr>
        <p:txBody>
          <a:bodyPr wrap="square">
            <a:spAutoFit/>
          </a:bodyPr>
          <a:lstStyle/>
          <a:p>
            <a:pPr algn="ctr"/>
            <a:r>
              <a:rPr lang="es-ES" sz="1800" dirty="0">
                <a:latin typeface="Arial"/>
                <a:cs typeface="Segoe UI"/>
              </a:rPr>
              <a:t>Tecnológico Nacional de México</a:t>
            </a:r>
            <a:r>
              <a:rPr lang="en-US" sz="1800" dirty="0">
                <a:latin typeface="Arial"/>
                <a:cs typeface="Segoe UI"/>
              </a:rPr>
              <a:t>​</a:t>
            </a:r>
            <a:endParaRPr lang="es-ES" sz="1800" dirty="0">
              <a:latin typeface="Arial"/>
              <a:cs typeface="Arial"/>
            </a:endParaRPr>
          </a:p>
          <a:p>
            <a:pPr algn="ctr"/>
            <a:r>
              <a:rPr lang="es-ES" sz="1800" dirty="0">
                <a:latin typeface="Arial"/>
                <a:cs typeface="Segoe UI"/>
              </a:rPr>
              <a:t>Instituto Tecnológico de Frontera Comalapa</a:t>
            </a:r>
            <a:r>
              <a:rPr lang="en-US" sz="1800" dirty="0">
                <a:latin typeface="Arial"/>
                <a:cs typeface="Segoe UI"/>
              </a:rPr>
              <a:t>​</a:t>
            </a:r>
          </a:p>
          <a:p>
            <a:pPr algn="ctr"/>
            <a:r>
              <a:rPr lang="es-ES" sz="1800" dirty="0">
                <a:latin typeface="Arial"/>
                <a:cs typeface="Segoe UI"/>
              </a:rPr>
              <a:t>​</a:t>
            </a:r>
          </a:p>
          <a:p>
            <a:pPr algn="ctr"/>
            <a:r>
              <a:rPr lang="en-US" sz="1800" dirty="0">
                <a:latin typeface="Arial"/>
                <a:cs typeface="Segoe UI"/>
              </a:rPr>
              <a:t>EJERCICIOS</a:t>
            </a:r>
          </a:p>
          <a:p>
            <a:pPr algn="ctr"/>
            <a:endParaRPr lang="en-US" sz="1800" dirty="0">
              <a:latin typeface="Arial"/>
              <a:cs typeface="Segoe UI"/>
            </a:endParaRPr>
          </a:p>
          <a:p>
            <a:pPr algn="ctr"/>
            <a:r>
              <a:rPr lang="es-ES" sz="1800" dirty="0">
                <a:latin typeface="Arial"/>
                <a:cs typeface="Segoe UI"/>
              </a:rPr>
              <a:t>PROGRAMACIÓN WEB</a:t>
            </a:r>
          </a:p>
          <a:p>
            <a:pPr algn="ctr"/>
            <a:r>
              <a:rPr lang="es-ES" sz="1800" dirty="0">
                <a:latin typeface="Arial"/>
                <a:cs typeface="Segoe UI"/>
              </a:rPr>
              <a:t>​</a:t>
            </a:r>
            <a:endParaRPr lang="es-ES" sz="1800" dirty="0">
              <a:latin typeface="Arial"/>
              <a:cs typeface="Arial"/>
            </a:endParaRPr>
          </a:p>
          <a:p>
            <a:pPr algn="ctr"/>
            <a:r>
              <a:rPr lang="es-ES" sz="1800" dirty="0">
                <a:latin typeface="Arial"/>
                <a:cs typeface="Segoe UI"/>
              </a:rPr>
              <a:t>Integrante: </a:t>
            </a:r>
            <a:r>
              <a:rPr lang="en-US" sz="1800" dirty="0">
                <a:latin typeface="Arial"/>
                <a:cs typeface="Segoe UI"/>
              </a:rPr>
              <a:t>​</a:t>
            </a:r>
          </a:p>
          <a:p>
            <a:pPr algn="ctr"/>
            <a:endParaRPr lang="es-ES" sz="1800" dirty="0">
              <a:latin typeface="Arial"/>
              <a:cs typeface="Segoe UI"/>
            </a:endParaRPr>
          </a:p>
          <a:p>
            <a:pPr algn="ctr"/>
            <a:r>
              <a:rPr lang="es-ES" sz="1800" dirty="0">
                <a:latin typeface="Arial"/>
                <a:cs typeface="Segoe UI"/>
              </a:rPr>
              <a:t>Reynaldo Felipe Morales Silva</a:t>
            </a:r>
            <a:r>
              <a:rPr lang="en-US" sz="1800" dirty="0">
                <a:latin typeface="Arial"/>
                <a:cs typeface="Segoe UI"/>
              </a:rPr>
              <a:t>​</a:t>
            </a:r>
          </a:p>
          <a:p>
            <a:pPr algn="ctr"/>
            <a:endParaRPr lang="es-MX" sz="1800" dirty="0">
              <a:latin typeface="Arial"/>
              <a:cs typeface="Arial"/>
            </a:endParaRPr>
          </a:p>
          <a:p>
            <a:pPr algn="ctr"/>
            <a:r>
              <a:rPr lang="es-ES" sz="1800" dirty="0">
                <a:latin typeface="Arial"/>
                <a:cs typeface="Segoe UI"/>
              </a:rPr>
              <a:t>Carrera: Ingeniería en Sistemas Computacionales</a:t>
            </a:r>
            <a:r>
              <a:rPr lang="en-US" sz="1800" dirty="0">
                <a:latin typeface="Arial"/>
                <a:cs typeface="Segoe UI"/>
              </a:rPr>
              <a:t>​</a:t>
            </a:r>
          </a:p>
          <a:p>
            <a:pPr algn="ctr"/>
            <a:r>
              <a:rPr lang="es-ES" sz="1800" dirty="0">
                <a:latin typeface="Arial"/>
                <a:cs typeface="Segoe UI"/>
              </a:rPr>
              <a:t>​</a:t>
            </a:r>
          </a:p>
          <a:p>
            <a:pPr algn="ctr"/>
            <a:r>
              <a:rPr lang="es-ES" sz="1800" dirty="0">
                <a:latin typeface="Arial"/>
                <a:cs typeface="Segoe UI"/>
              </a:rPr>
              <a:t>Docente: Ing. Francisco Javier Mingo Velázquez</a:t>
            </a:r>
          </a:p>
          <a:p>
            <a:pPr algn="ctr"/>
            <a:r>
              <a:rPr lang="es-ES" sz="1800" dirty="0">
                <a:latin typeface="Arial"/>
                <a:cs typeface="Segoe UI"/>
              </a:rPr>
              <a:t>Fecha:  09 de </a:t>
            </a:r>
            <a:r>
              <a:rPr lang="es-ES" dirty="0">
                <a:latin typeface="Arial"/>
                <a:cs typeface="Segoe UI"/>
              </a:rPr>
              <a:t>juni</a:t>
            </a:r>
            <a:r>
              <a:rPr lang="es-ES" sz="1800" dirty="0">
                <a:latin typeface="Arial"/>
                <a:cs typeface="Segoe UI"/>
              </a:rPr>
              <a:t>o del 2026</a:t>
            </a:r>
          </a:p>
        </p:txBody>
      </p:sp>
    </p:spTree>
    <p:extLst>
      <p:ext uri="{BB962C8B-B14F-4D97-AF65-F5344CB8AC3E}">
        <p14:creationId xmlns:p14="http://schemas.microsoft.com/office/powerpoint/2010/main" val="2477572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461677-D128-C9BA-C4A5-3E1AFC03CF39}"/>
              </a:ext>
            </a:extLst>
          </p:cNvPr>
          <p:cNvSpPr>
            <a:spLocks noGrp="1"/>
          </p:cNvSpPr>
          <p:nvPr>
            <p:ph type="title"/>
          </p:nvPr>
        </p:nvSpPr>
        <p:spPr/>
        <p:txBody>
          <a:bodyPr/>
          <a:lstStyle/>
          <a:p>
            <a:r>
              <a:rPr lang="es-MX" dirty="0"/>
              <a:t>INTRODUCCIÓN</a:t>
            </a:r>
          </a:p>
        </p:txBody>
      </p:sp>
      <p:sp>
        <p:nvSpPr>
          <p:cNvPr id="3" name="Marcador de contenido 2">
            <a:extLst>
              <a:ext uri="{FF2B5EF4-FFF2-40B4-BE49-F238E27FC236}">
                <a16:creationId xmlns:a16="http://schemas.microsoft.com/office/drawing/2014/main" id="{48EA1316-D981-EA8F-748F-7B3AFE2DD860}"/>
              </a:ext>
            </a:extLst>
          </p:cNvPr>
          <p:cNvSpPr>
            <a:spLocks noGrp="1"/>
          </p:cNvSpPr>
          <p:nvPr>
            <p:ph idx="1"/>
          </p:nvPr>
        </p:nvSpPr>
        <p:spPr/>
        <p:txBody>
          <a:bodyPr>
            <a:normAutofit/>
          </a:bodyPr>
          <a:lstStyle/>
          <a:p>
            <a:pPr marL="0" indent="0" algn="just">
              <a:buNone/>
            </a:pPr>
            <a:r>
              <a:rPr lang="es-MX" dirty="0"/>
              <a:t>La realización de ejercicios prácticos es una estrategia fundamental para reforzar los conocimientos adquiridos durante el desarrollo de aplicaciones web. A través de la práctica es posible comprender de manera más profunda el funcionamiento de las tecnologías utilizadas en la programación del lado del servidor, así como la interacción entre la interfaz de usuario, la lógica de la aplicación y las bases de datos. En esta actividad se desarrollará una serie de ejercicios basados en la aplicación web Pizzas </a:t>
            </a:r>
            <a:r>
              <a:rPr lang="es-MX" dirty="0" err="1"/>
              <a:t>Kids</a:t>
            </a:r>
            <a:r>
              <a:rPr lang="es-MX" dirty="0"/>
              <a:t>, creada con Angular y </a:t>
            </a:r>
            <a:r>
              <a:rPr lang="es-MX" dirty="0" err="1"/>
              <a:t>Supabase</a:t>
            </a:r>
            <a:r>
              <a:rPr lang="es-MX" dirty="0"/>
              <a:t>. Los ejercicios permitirán aplicar conceptos relacionados con el lenguaje </a:t>
            </a:r>
            <a:r>
              <a:rPr lang="es-MX" dirty="0" err="1"/>
              <a:t>TypeScript</a:t>
            </a:r>
            <a:r>
              <a:rPr lang="es-MX" dirty="0"/>
              <a:t>, estructuras de control, formularios, creación de clases, manejo de servicios y acceso a datos, fortaleciendo las competencias necesarias para el desarrollo de aplicaciones web dinámicas y modernas.</a:t>
            </a:r>
          </a:p>
          <a:p>
            <a:pPr marL="0" indent="0">
              <a:buNone/>
            </a:pPr>
            <a:endParaRPr lang="es-MX" dirty="0"/>
          </a:p>
        </p:txBody>
      </p:sp>
    </p:spTree>
    <p:extLst>
      <p:ext uri="{BB962C8B-B14F-4D97-AF65-F5344CB8AC3E}">
        <p14:creationId xmlns:p14="http://schemas.microsoft.com/office/powerpoint/2010/main" val="2499276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A8101F-ECFE-5E31-7446-7243320653FE}"/>
              </a:ext>
            </a:extLst>
          </p:cNvPr>
          <p:cNvSpPr>
            <a:spLocks noGrp="1"/>
          </p:cNvSpPr>
          <p:nvPr>
            <p:ph type="title"/>
          </p:nvPr>
        </p:nvSpPr>
        <p:spPr/>
        <p:txBody>
          <a:bodyPr/>
          <a:lstStyle/>
          <a:p>
            <a:r>
              <a:rPr lang="es-MX" dirty="0"/>
              <a:t>JUSTIFICACIÓN</a:t>
            </a:r>
          </a:p>
        </p:txBody>
      </p:sp>
      <p:sp>
        <p:nvSpPr>
          <p:cNvPr id="3" name="Marcador de contenido 2">
            <a:extLst>
              <a:ext uri="{FF2B5EF4-FFF2-40B4-BE49-F238E27FC236}">
                <a16:creationId xmlns:a16="http://schemas.microsoft.com/office/drawing/2014/main" id="{07198240-D7F9-DA19-C6C3-2295EF251A4A}"/>
              </a:ext>
            </a:extLst>
          </p:cNvPr>
          <p:cNvSpPr>
            <a:spLocks noGrp="1"/>
          </p:cNvSpPr>
          <p:nvPr>
            <p:ph idx="1"/>
          </p:nvPr>
        </p:nvSpPr>
        <p:spPr/>
        <p:txBody>
          <a:bodyPr>
            <a:normAutofit/>
          </a:bodyPr>
          <a:lstStyle/>
          <a:p>
            <a:pPr marL="0" indent="0" algn="just">
              <a:buNone/>
            </a:pPr>
            <a:r>
              <a:rPr lang="es-MX" dirty="0"/>
              <a:t>La elaboración de ejercicios prácticos tiene como finalidad consolidar los conocimientos obtenidos durante el desarrollo de la aplicación Pizzas </a:t>
            </a:r>
            <a:r>
              <a:rPr lang="es-MX" dirty="0" err="1"/>
              <a:t>Kids</a:t>
            </a:r>
            <a:r>
              <a:rPr lang="es-MX" dirty="0"/>
              <a:t>, permitiendo que los conceptos estudiados sean aplicados en situaciones reales de programación. Mediante estas actividades se busca fortalecer las habilidades de análisis, diseño y desarrollo de aplicaciones web, así como mejorar la comprensión de la comunicación entre el cliente y los servicios de almacenamiento de información. Asimismo, la práctica constante favorece el aprendizaje significativo, ya que permite identificar problemas, proponer soluciones y adquirir experiencia en el uso de </a:t>
            </a:r>
            <a:r>
              <a:rPr lang="es-MX" dirty="0" err="1"/>
              <a:t>Frameworks</a:t>
            </a:r>
            <a:r>
              <a:rPr lang="es-MX" dirty="0"/>
              <a:t> modernos como Angular y plataformas de bases de datos en la nube como </a:t>
            </a:r>
            <a:r>
              <a:rPr lang="es-MX" dirty="0" err="1"/>
              <a:t>Supabase</a:t>
            </a:r>
            <a:r>
              <a:rPr lang="es-MX" dirty="0"/>
              <a:t>. De esta manera, los ejercicios contribuyen al desarrollo de competencias técnicas que serán de utilidad en futuros proyectos académicos y profesionales.</a:t>
            </a:r>
          </a:p>
          <a:p>
            <a:pPr marL="0" indent="0">
              <a:buNone/>
            </a:pPr>
            <a:endParaRPr lang="es-MX" dirty="0"/>
          </a:p>
        </p:txBody>
      </p:sp>
    </p:spTree>
    <p:extLst>
      <p:ext uri="{BB962C8B-B14F-4D97-AF65-F5344CB8AC3E}">
        <p14:creationId xmlns:p14="http://schemas.microsoft.com/office/powerpoint/2010/main" val="2460399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52B9CA-7E8D-5F25-7DA0-A03DE179BEAB}"/>
              </a:ext>
            </a:extLst>
          </p:cNvPr>
          <p:cNvSpPr>
            <a:spLocks noGrp="1"/>
          </p:cNvSpPr>
          <p:nvPr>
            <p:ph type="title"/>
          </p:nvPr>
        </p:nvSpPr>
        <p:spPr/>
        <p:txBody>
          <a:bodyPr/>
          <a:lstStyle/>
          <a:p>
            <a:r>
              <a:rPr lang="es-MX" dirty="0"/>
              <a:t>EJERCICIO</a:t>
            </a:r>
          </a:p>
        </p:txBody>
      </p:sp>
      <p:sp>
        <p:nvSpPr>
          <p:cNvPr id="3" name="Marcador de contenido 2">
            <a:extLst>
              <a:ext uri="{FF2B5EF4-FFF2-40B4-BE49-F238E27FC236}">
                <a16:creationId xmlns:a16="http://schemas.microsoft.com/office/drawing/2014/main" id="{90B40341-FEE9-A3A5-8014-13050DD9995D}"/>
              </a:ext>
            </a:extLst>
          </p:cNvPr>
          <p:cNvSpPr>
            <a:spLocks noGrp="1"/>
          </p:cNvSpPr>
          <p:nvPr>
            <p:ph idx="1"/>
          </p:nvPr>
        </p:nvSpPr>
        <p:spPr/>
        <p:txBody>
          <a:bodyPr/>
          <a:lstStyle/>
          <a:p>
            <a:pPr marL="0" indent="0" algn="just">
              <a:buNone/>
            </a:pPr>
            <a:r>
              <a:rPr lang="es-MX" dirty="0"/>
              <a:t>En esta parte observaremos como es que funciona cada parte de código que implementamos dentro de visual </a:t>
            </a:r>
            <a:r>
              <a:rPr lang="es-MX" dirty="0" err="1"/>
              <a:t>studio</a:t>
            </a:r>
            <a:r>
              <a:rPr lang="es-MX" dirty="0"/>
              <a:t> desde que se ejecuta hasta que termina con la base de datos, tomando en cuenta siempre lo implementado.</a:t>
            </a:r>
          </a:p>
        </p:txBody>
      </p:sp>
    </p:spTree>
    <p:extLst>
      <p:ext uri="{BB962C8B-B14F-4D97-AF65-F5344CB8AC3E}">
        <p14:creationId xmlns:p14="http://schemas.microsoft.com/office/powerpoint/2010/main" val="3031940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75BBCAB-CD63-D07B-DD4B-51332BA3DE3A}"/>
              </a:ext>
            </a:extLst>
          </p:cNvPr>
          <p:cNvSpPr>
            <a:spLocks noGrp="1"/>
          </p:cNvSpPr>
          <p:nvPr>
            <p:ph idx="1"/>
          </p:nvPr>
        </p:nvSpPr>
        <p:spPr>
          <a:xfrm>
            <a:off x="838200" y="562708"/>
            <a:ext cx="10515600" cy="5614255"/>
          </a:xfrm>
        </p:spPr>
        <p:txBody>
          <a:bodyPr/>
          <a:lstStyle/>
          <a:p>
            <a:pPr marL="0" indent="0">
              <a:buNone/>
            </a:pPr>
            <a:r>
              <a:rPr lang="es-MX" dirty="0"/>
              <a:t>Cuando entramos a la aplicación web nos podemos dar cuenta que es donde llama la clase de home y es ver que reacciona y la función que implementa.</a:t>
            </a:r>
          </a:p>
          <a:p>
            <a:pPr marL="0" indent="0">
              <a:buNone/>
            </a:pPr>
            <a:endParaRPr lang="es-MX" dirty="0"/>
          </a:p>
        </p:txBody>
      </p:sp>
      <p:pic>
        <p:nvPicPr>
          <p:cNvPr id="5" name="Imagen 4">
            <a:extLst>
              <a:ext uri="{FF2B5EF4-FFF2-40B4-BE49-F238E27FC236}">
                <a16:creationId xmlns:a16="http://schemas.microsoft.com/office/drawing/2014/main" id="{1C5A353D-ACCF-6E10-4FC3-7396048E4DC1}"/>
              </a:ext>
            </a:extLst>
          </p:cNvPr>
          <p:cNvPicPr>
            <a:picLocks noChangeAspect="1"/>
          </p:cNvPicPr>
          <p:nvPr/>
        </p:nvPicPr>
        <p:blipFill>
          <a:blip r:embed="rId2"/>
          <a:stretch>
            <a:fillRect/>
          </a:stretch>
        </p:blipFill>
        <p:spPr>
          <a:xfrm>
            <a:off x="2086067" y="2058864"/>
            <a:ext cx="8600689" cy="4118099"/>
          </a:xfrm>
          <a:prstGeom prst="rect">
            <a:avLst/>
          </a:prstGeom>
        </p:spPr>
      </p:pic>
    </p:spTree>
    <p:extLst>
      <p:ext uri="{BB962C8B-B14F-4D97-AF65-F5344CB8AC3E}">
        <p14:creationId xmlns:p14="http://schemas.microsoft.com/office/powerpoint/2010/main" val="496655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9A73386-5366-693D-1B40-ACE916D1A9AB}"/>
              </a:ext>
            </a:extLst>
          </p:cNvPr>
          <p:cNvSpPr>
            <a:spLocks noGrp="1"/>
          </p:cNvSpPr>
          <p:nvPr>
            <p:ph idx="1"/>
          </p:nvPr>
        </p:nvSpPr>
        <p:spPr>
          <a:xfrm>
            <a:off x="838200" y="492369"/>
            <a:ext cx="10515600" cy="5684594"/>
          </a:xfrm>
        </p:spPr>
        <p:txBody>
          <a:bodyPr/>
          <a:lstStyle/>
          <a:p>
            <a:pPr marL="0" indent="0">
              <a:buNone/>
            </a:pPr>
            <a:r>
              <a:rPr lang="es-MX" dirty="0" err="1"/>
              <a:t>Despues</a:t>
            </a:r>
            <a:r>
              <a:rPr lang="es-MX" dirty="0"/>
              <a:t> una vez que ya hemos visto cuando la clase home reacciona correctamente vamos al apartado de menú aquí es donde veremos la función que realiza la clase menú.</a:t>
            </a:r>
          </a:p>
          <a:p>
            <a:pPr marL="0" indent="0">
              <a:buNone/>
            </a:pPr>
            <a:endParaRPr lang="es-MX" dirty="0"/>
          </a:p>
        </p:txBody>
      </p:sp>
      <p:pic>
        <p:nvPicPr>
          <p:cNvPr id="5" name="Imagen 4">
            <a:extLst>
              <a:ext uri="{FF2B5EF4-FFF2-40B4-BE49-F238E27FC236}">
                <a16:creationId xmlns:a16="http://schemas.microsoft.com/office/drawing/2014/main" id="{CB2B6387-8CB7-319E-3B84-9ECDE91DE606}"/>
              </a:ext>
            </a:extLst>
          </p:cNvPr>
          <p:cNvPicPr>
            <a:picLocks noChangeAspect="1"/>
          </p:cNvPicPr>
          <p:nvPr/>
        </p:nvPicPr>
        <p:blipFill>
          <a:blip r:embed="rId2"/>
          <a:stretch>
            <a:fillRect/>
          </a:stretch>
        </p:blipFill>
        <p:spPr>
          <a:xfrm>
            <a:off x="381471" y="2968251"/>
            <a:ext cx="5714530" cy="2786846"/>
          </a:xfrm>
          <a:prstGeom prst="rect">
            <a:avLst/>
          </a:prstGeom>
        </p:spPr>
      </p:pic>
      <p:pic>
        <p:nvPicPr>
          <p:cNvPr id="7" name="Imagen 6">
            <a:extLst>
              <a:ext uri="{FF2B5EF4-FFF2-40B4-BE49-F238E27FC236}">
                <a16:creationId xmlns:a16="http://schemas.microsoft.com/office/drawing/2014/main" id="{28E6899F-A75D-C6BF-799C-D0E803C3DF04}"/>
              </a:ext>
            </a:extLst>
          </p:cNvPr>
          <p:cNvPicPr>
            <a:picLocks noChangeAspect="1"/>
          </p:cNvPicPr>
          <p:nvPr/>
        </p:nvPicPr>
        <p:blipFill>
          <a:blip r:embed="rId3"/>
          <a:stretch>
            <a:fillRect/>
          </a:stretch>
        </p:blipFill>
        <p:spPr>
          <a:xfrm>
            <a:off x="6252844" y="2968251"/>
            <a:ext cx="5738903" cy="2786846"/>
          </a:xfrm>
          <a:prstGeom prst="rect">
            <a:avLst/>
          </a:prstGeom>
        </p:spPr>
      </p:pic>
    </p:spTree>
    <p:extLst>
      <p:ext uri="{BB962C8B-B14F-4D97-AF65-F5344CB8AC3E}">
        <p14:creationId xmlns:p14="http://schemas.microsoft.com/office/powerpoint/2010/main" val="32824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61FD89-1F02-2F91-D874-B2BB7DE5741B}"/>
              </a:ext>
            </a:extLst>
          </p:cNvPr>
          <p:cNvSpPr>
            <a:spLocks noGrp="1"/>
          </p:cNvSpPr>
          <p:nvPr>
            <p:ph idx="1"/>
          </p:nvPr>
        </p:nvSpPr>
        <p:spPr>
          <a:xfrm>
            <a:off x="838200" y="506437"/>
            <a:ext cx="10515600" cy="5670526"/>
          </a:xfrm>
        </p:spPr>
        <p:txBody>
          <a:bodyPr/>
          <a:lstStyle/>
          <a:p>
            <a:pPr marL="0" indent="0">
              <a:buNone/>
            </a:pPr>
            <a:r>
              <a:rPr lang="es-MX" dirty="0" err="1"/>
              <a:t>Despues</a:t>
            </a:r>
            <a:r>
              <a:rPr lang="es-MX" dirty="0"/>
              <a:t> de realizar esto cuando los clientes realicen alguna compra y le den agregar al carrito les aparecerá esto en el menú esta función es importante ya que todas las pizzas que compremos se estarán registrando automáticamente.</a:t>
            </a:r>
          </a:p>
          <a:p>
            <a:pPr marL="0" indent="0">
              <a:buNone/>
            </a:pPr>
            <a:endParaRPr lang="es-MX" dirty="0"/>
          </a:p>
        </p:txBody>
      </p:sp>
      <p:pic>
        <p:nvPicPr>
          <p:cNvPr id="5" name="Imagen 4">
            <a:extLst>
              <a:ext uri="{FF2B5EF4-FFF2-40B4-BE49-F238E27FC236}">
                <a16:creationId xmlns:a16="http://schemas.microsoft.com/office/drawing/2014/main" id="{E537463E-D189-4F01-CF62-C64A205BE59D}"/>
              </a:ext>
            </a:extLst>
          </p:cNvPr>
          <p:cNvPicPr>
            <a:picLocks noChangeAspect="1"/>
          </p:cNvPicPr>
          <p:nvPr/>
        </p:nvPicPr>
        <p:blipFill>
          <a:blip r:embed="rId2"/>
          <a:stretch>
            <a:fillRect/>
          </a:stretch>
        </p:blipFill>
        <p:spPr>
          <a:xfrm>
            <a:off x="1125416" y="2533884"/>
            <a:ext cx="9350326" cy="3643079"/>
          </a:xfrm>
          <a:prstGeom prst="rect">
            <a:avLst/>
          </a:prstGeom>
        </p:spPr>
      </p:pic>
    </p:spTree>
    <p:extLst>
      <p:ext uri="{BB962C8B-B14F-4D97-AF65-F5344CB8AC3E}">
        <p14:creationId xmlns:p14="http://schemas.microsoft.com/office/powerpoint/2010/main" val="3083767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C352F00-2000-9891-91E8-C80BD88A7C9B}"/>
              </a:ext>
            </a:extLst>
          </p:cNvPr>
          <p:cNvSpPr>
            <a:spLocks noGrp="1"/>
          </p:cNvSpPr>
          <p:nvPr>
            <p:ph idx="1"/>
          </p:nvPr>
        </p:nvSpPr>
        <p:spPr>
          <a:xfrm>
            <a:off x="838200" y="604911"/>
            <a:ext cx="10515600" cy="5572052"/>
          </a:xfrm>
        </p:spPr>
        <p:txBody>
          <a:bodyPr/>
          <a:lstStyle/>
          <a:p>
            <a:pPr marL="0" indent="0">
              <a:buNone/>
            </a:pPr>
            <a:r>
              <a:rPr lang="es-MX" dirty="0"/>
              <a:t>Aquí en esta parte es donde vamos a ver como el sistema guarda todo los pedidos en el apartado de orden y como es el total.</a:t>
            </a:r>
          </a:p>
          <a:p>
            <a:pPr marL="0" indent="0">
              <a:buNone/>
            </a:pPr>
            <a:endParaRPr lang="es-MX" dirty="0"/>
          </a:p>
        </p:txBody>
      </p:sp>
      <p:pic>
        <p:nvPicPr>
          <p:cNvPr id="5" name="Imagen 4">
            <a:extLst>
              <a:ext uri="{FF2B5EF4-FFF2-40B4-BE49-F238E27FC236}">
                <a16:creationId xmlns:a16="http://schemas.microsoft.com/office/drawing/2014/main" id="{8CE14981-DD9C-F04C-9C61-CB32B9E5A14D}"/>
              </a:ext>
            </a:extLst>
          </p:cNvPr>
          <p:cNvPicPr>
            <a:picLocks noChangeAspect="1"/>
          </p:cNvPicPr>
          <p:nvPr/>
        </p:nvPicPr>
        <p:blipFill>
          <a:blip r:embed="rId2"/>
          <a:stretch>
            <a:fillRect/>
          </a:stretch>
        </p:blipFill>
        <p:spPr>
          <a:xfrm>
            <a:off x="733387" y="1917258"/>
            <a:ext cx="10620413" cy="3442533"/>
          </a:xfrm>
          <a:prstGeom prst="rect">
            <a:avLst/>
          </a:prstGeom>
        </p:spPr>
      </p:pic>
    </p:spTree>
    <p:extLst>
      <p:ext uri="{BB962C8B-B14F-4D97-AF65-F5344CB8AC3E}">
        <p14:creationId xmlns:p14="http://schemas.microsoft.com/office/powerpoint/2010/main" val="3302219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2CCB943-4C09-A571-5C1B-632D712BCE88}"/>
              </a:ext>
            </a:extLst>
          </p:cNvPr>
          <p:cNvSpPr>
            <a:spLocks noGrp="1"/>
          </p:cNvSpPr>
          <p:nvPr>
            <p:ph idx="1"/>
          </p:nvPr>
        </p:nvSpPr>
        <p:spPr>
          <a:xfrm>
            <a:off x="838200" y="647114"/>
            <a:ext cx="10515600" cy="5529849"/>
          </a:xfrm>
        </p:spPr>
        <p:txBody>
          <a:bodyPr/>
          <a:lstStyle/>
          <a:p>
            <a:pPr marL="0" indent="0">
              <a:buNone/>
            </a:pPr>
            <a:r>
              <a:rPr lang="es-MX" dirty="0"/>
              <a:t>Dentro del mismo apartado como tal de orden nos ponemos a ver como el sistema nos manda un formulario el que se programo que debemos q rellanar para saber y tener en forma si se lleva a domicilio y también verificaremos que realice las estructuras correspondientes.</a:t>
            </a:r>
          </a:p>
          <a:p>
            <a:pPr marL="0" indent="0">
              <a:buNone/>
            </a:pPr>
            <a:endParaRPr lang="es-MX" dirty="0"/>
          </a:p>
        </p:txBody>
      </p:sp>
      <p:pic>
        <p:nvPicPr>
          <p:cNvPr id="5" name="Imagen 4">
            <a:extLst>
              <a:ext uri="{FF2B5EF4-FFF2-40B4-BE49-F238E27FC236}">
                <a16:creationId xmlns:a16="http://schemas.microsoft.com/office/drawing/2014/main" id="{5CDA0737-76F1-E33C-F2BA-3DE28C15E78B}"/>
              </a:ext>
            </a:extLst>
          </p:cNvPr>
          <p:cNvPicPr>
            <a:picLocks noChangeAspect="1"/>
          </p:cNvPicPr>
          <p:nvPr/>
        </p:nvPicPr>
        <p:blipFill>
          <a:blip r:embed="rId2"/>
          <a:stretch>
            <a:fillRect/>
          </a:stretch>
        </p:blipFill>
        <p:spPr>
          <a:xfrm>
            <a:off x="1464556" y="2422312"/>
            <a:ext cx="9262887" cy="3754651"/>
          </a:xfrm>
          <a:prstGeom prst="rect">
            <a:avLst/>
          </a:prstGeom>
        </p:spPr>
      </p:pic>
    </p:spTree>
    <p:extLst>
      <p:ext uri="{BB962C8B-B14F-4D97-AF65-F5344CB8AC3E}">
        <p14:creationId xmlns:p14="http://schemas.microsoft.com/office/powerpoint/2010/main" val="295540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BC7A23A-B1B4-C4AD-B7DA-35A65D21FDCB}"/>
              </a:ext>
            </a:extLst>
          </p:cNvPr>
          <p:cNvSpPr>
            <a:spLocks noGrp="1"/>
          </p:cNvSpPr>
          <p:nvPr>
            <p:ph idx="1"/>
          </p:nvPr>
        </p:nvSpPr>
        <p:spPr>
          <a:xfrm>
            <a:off x="838200" y="604911"/>
            <a:ext cx="10515600" cy="5572052"/>
          </a:xfrm>
        </p:spPr>
        <p:txBody>
          <a:bodyPr/>
          <a:lstStyle/>
          <a:p>
            <a:pPr marL="0" indent="0">
              <a:buNone/>
            </a:pPr>
            <a:r>
              <a:rPr lang="es-MX" dirty="0"/>
              <a:t>Rellenamos cada formulario con base a lo que nos pide, si en dado caso le ponemos que lo recogeremos en local no seria necesario poner alguna dirección de domicilio y no marcaria error.</a:t>
            </a:r>
          </a:p>
          <a:p>
            <a:pPr marL="0" indent="0">
              <a:buNone/>
            </a:pPr>
            <a:endParaRPr lang="es-MX" dirty="0"/>
          </a:p>
        </p:txBody>
      </p:sp>
      <p:pic>
        <p:nvPicPr>
          <p:cNvPr id="5" name="Imagen 4">
            <a:extLst>
              <a:ext uri="{FF2B5EF4-FFF2-40B4-BE49-F238E27FC236}">
                <a16:creationId xmlns:a16="http://schemas.microsoft.com/office/drawing/2014/main" id="{7AB6A606-B877-ED65-4A9C-202ADD1957FE}"/>
              </a:ext>
            </a:extLst>
          </p:cNvPr>
          <p:cNvPicPr>
            <a:picLocks noChangeAspect="1"/>
          </p:cNvPicPr>
          <p:nvPr/>
        </p:nvPicPr>
        <p:blipFill>
          <a:blip r:embed="rId2"/>
          <a:stretch>
            <a:fillRect/>
          </a:stretch>
        </p:blipFill>
        <p:spPr>
          <a:xfrm>
            <a:off x="2505211" y="2151890"/>
            <a:ext cx="7181577" cy="3889201"/>
          </a:xfrm>
          <a:prstGeom prst="rect">
            <a:avLst/>
          </a:prstGeom>
        </p:spPr>
      </p:pic>
    </p:spTree>
    <p:extLst>
      <p:ext uri="{BB962C8B-B14F-4D97-AF65-F5344CB8AC3E}">
        <p14:creationId xmlns:p14="http://schemas.microsoft.com/office/powerpoint/2010/main" val="337000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01BE5F8-7C06-AE27-7F43-AF0873CA3DD3}"/>
              </a:ext>
            </a:extLst>
          </p:cNvPr>
          <p:cNvSpPr>
            <a:spLocks noGrp="1"/>
          </p:cNvSpPr>
          <p:nvPr>
            <p:ph idx="1"/>
          </p:nvPr>
        </p:nvSpPr>
        <p:spPr>
          <a:xfrm>
            <a:off x="838200" y="520505"/>
            <a:ext cx="10515600" cy="5656458"/>
          </a:xfrm>
        </p:spPr>
        <p:txBody>
          <a:bodyPr/>
          <a:lstStyle/>
          <a:p>
            <a:pPr marL="0" indent="0">
              <a:buNone/>
            </a:pPr>
            <a:r>
              <a:rPr lang="es-MX" dirty="0"/>
              <a:t>Verificamos dentro de </a:t>
            </a:r>
            <a:r>
              <a:rPr lang="es-MX" dirty="0" err="1"/>
              <a:t>supabase</a:t>
            </a:r>
            <a:r>
              <a:rPr lang="es-MX" dirty="0"/>
              <a:t> que se haya registrado o guardado correctamente el pedido.</a:t>
            </a:r>
          </a:p>
          <a:p>
            <a:pPr marL="0" indent="0">
              <a:buNone/>
            </a:pPr>
            <a:endParaRPr lang="es-MX" dirty="0"/>
          </a:p>
        </p:txBody>
      </p:sp>
      <p:pic>
        <p:nvPicPr>
          <p:cNvPr id="5" name="Imagen 4">
            <a:extLst>
              <a:ext uri="{FF2B5EF4-FFF2-40B4-BE49-F238E27FC236}">
                <a16:creationId xmlns:a16="http://schemas.microsoft.com/office/drawing/2014/main" id="{787F78A2-6BD0-D5CB-D065-567492057814}"/>
              </a:ext>
            </a:extLst>
          </p:cNvPr>
          <p:cNvPicPr>
            <a:picLocks noChangeAspect="1"/>
          </p:cNvPicPr>
          <p:nvPr/>
        </p:nvPicPr>
        <p:blipFill>
          <a:blip r:embed="rId2"/>
          <a:stretch>
            <a:fillRect/>
          </a:stretch>
        </p:blipFill>
        <p:spPr>
          <a:xfrm>
            <a:off x="1061335" y="3076526"/>
            <a:ext cx="10069330" cy="704948"/>
          </a:xfrm>
          <a:prstGeom prst="rect">
            <a:avLst/>
          </a:prstGeom>
        </p:spPr>
      </p:pic>
      <p:pic>
        <p:nvPicPr>
          <p:cNvPr id="7" name="Imagen 6">
            <a:extLst>
              <a:ext uri="{FF2B5EF4-FFF2-40B4-BE49-F238E27FC236}">
                <a16:creationId xmlns:a16="http://schemas.microsoft.com/office/drawing/2014/main" id="{5A7DEC66-19CE-E515-FA08-4905B683A77B}"/>
              </a:ext>
            </a:extLst>
          </p:cNvPr>
          <p:cNvPicPr>
            <a:picLocks noChangeAspect="1"/>
          </p:cNvPicPr>
          <p:nvPr/>
        </p:nvPicPr>
        <p:blipFill>
          <a:blip r:embed="rId3"/>
          <a:stretch>
            <a:fillRect/>
          </a:stretch>
        </p:blipFill>
        <p:spPr>
          <a:xfrm>
            <a:off x="1326414" y="4150428"/>
            <a:ext cx="9145276" cy="552527"/>
          </a:xfrm>
          <a:prstGeom prst="rect">
            <a:avLst/>
          </a:prstGeom>
        </p:spPr>
      </p:pic>
    </p:spTree>
    <p:extLst>
      <p:ext uri="{BB962C8B-B14F-4D97-AF65-F5344CB8AC3E}">
        <p14:creationId xmlns:p14="http://schemas.microsoft.com/office/powerpoint/2010/main" val="4004054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27456FD-8B8F-7E35-DE80-DECF1CA90AB1}"/>
              </a:ext>
            </a:extLst>
          </p:cNvPr>
          <p:cNvSpPr>
            <a:spLocks noGrp="1"/>
          </p:cNvSpPr>
          <p:nvPr>
            <p:ph idx="1"/>
          </p:nvPr>
        </p:nvSpPr>
        <p:spPr>
          <a:xfrm>
            <a:off x="838200" y="464234"/>
            <a:ext cx="10515600" cy="5712729"/>
          </a:xfrm>
        </p:spPr>
        <p:txBody>
          <a:bodyPr/>
          <a:lstStyle/>
          <a:p>
            <a:pPr marL="0" indent="0">
              <a:buNone/>
            </a:pPr>
            <a:r>
              <a:rPr lang="es-MX" dirty="0"/>
              <a:t>Después de que verificamos que se haya registrado el pedido en </a:t>
            </a:r>
            <a:r>
              <a:rPr lang="es-MX" dirty="0" err="1"/>
              <a:t>supabase</a:t>
            </a:r>
            <a:r>
              <a:rPr lang="es-MX" dirty="0"/>
              <a:t> pues regresamos a la pagina web y al momento que entramos vemos que nuestro carrito o la orden esta vacío esto pasa por que en el código e asignamos un comando que al momento que se registra el pedido automáticamente queda vacío todo.</a:t>
            </a:r>
          </a:p>
          <a:p>
            <a:pPr marL="0" indent="0">
              <a:buNone/>
            </a:pPr>
            <a:endParaRPr lang="es-MX" dirty="0"/>
          </a:p>
        </p:txBody>
      </p:sp>
      <p:pic>
        <p:nvPicPr>
          <p:cNvPr id="6" name="Imagen 5">
            <a:extLst>
              <a:ext uri="{FF2B5EF4-FFF2-40B4-BE49-F238E27FC236}">
                <a16:creationId xmlns:a16="http://schemas.microsoft.com/office/drawing/2014/main" id="{FBD2EA79-C6A7-9B6C-6DEA-1D7F420015FC}"/>
              </a:ext>
            </a:extLst>
          </p:cNvPr>
          <p:cNvPicPr>
            <a:picLocks noChangeAspect="1"/>
          </p:cNvPicPr>
          <p:nvPr/>
        </p:nvPicPr>
        <p:blipFill>
          <a:blip r:embed="rId2"/>
          <a:stretch>
            <a:fillRect/>
          </a:stretch>
        </p:blipFill>
        <p:spPr>
          <a:xfrm>
            <a:off x="2264898" y="2788186"/>
            <a:ext cx="7866184" cy="3605580"/>
          </a:xfrm>
          <a:prstGeom prst="rect">
            <a:avLst/>
          </a:prstGeom>
        </p:spPr>
      </p:pic>
    </p:spTree>
    <p:extLst>
      <p:ext uri="{BB962C8B-B14F-4D97-AF65-F5344CB8AC3E}">
        <p14:creationId xmlns:p14="http://schemas.microsoft.com/office/powerpoint/2010/main" val="1720700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350F01-9A6E-2628-B05E-B3A9EA34E93E}"/>
              </a:ext>
            </a:extLst>
          </p:cNvPr>
          <p:cNvSpPr>
            <a:spLocks noGrp="1"/>
          </p:cNvSpPr>
          <p:nvPr>
            <p:ph type="title"/>
          </p:nvPr>
        </p:nvSpPr>
        <p:spPr/>
        <p:txBody>
          <a:bodyPr/>
          <a:lstStyle/>
          <a:p>
            <a:r>
              <a:rPr lang="es-MX" dirty="0"/>
              <a:t>CONCLUSIÓN PERSONAL</a:t>
            </a:r>
          </a:p>
        </p:txBody>
      </p:sp>
      <p:sp>
        <p:nvSpPr>
          <p:cNvPr id="3" name="Marcador de contenido 2">
            <a:extLst>
              <a:ext uri="{FF2B5EF4-FFF2-40B4-BE49-F238E27FC236}">
                <a16:creationId xmlns:a16="http://schemas.microsoft.com/office/drawing/2014/main" id="{E9D56B98-9EF0-13DC-52C1-21A7704FAEB7}"/>
              </a:ext>
            </a:extLst>
          </p:cNvPr>
          <p:cNvSpPr>
            <a:spLocks noGrp="1"/>
          </p:cNvSpPr>
          <p:nvPr>
            <p:ph idx="1"/>
          </p:nvPr>
        </p:nvSpPr>
        <p:spPr/>
        <p:txBody>
          <a:bodyPr>
            <a:normAutofit/>
          </a:bodyPr>
          <a:lstStyle/>
          <a:p>
            <a:pPr marL="0" indent="0" algn="just">
              <a:buNone/>
            </a:pPr>
            <a:r>
              <a:rPr lang="es-MX" dirty="0"/>
              <a:t>La realización de los ejercicios permitió reforzar los conocimientos adquiridos durante el desarrollo de la aplicación Pizzas </a:t>
            </a:r>
            <a:r>
              <a:rPr lang="es-MX" dirty="0" err="1"/>
              <a:t>Kids</a:t>
            </a:r>
            <a:r>
              <a:rPr lang="es-MX" dirty="0"/>
              <a:t>, comprendiendo con mayor claridad la importancia de la programación del lado del servidor dentro de una aplicación web moderna. A través de las actividades se aplicaron conceptos relacionados con </a:t>
            </a:r>
            <a:r>
              <a:rPr lang="es-MX" dirty="0" err="1"/>
              <a:t>TypeScript</a:t>
            </a:r>
            <a:r>
              <a:rPr lang="es-MX" dirty="0"/>
              <a:t>, estructuras de control, formularios, creación de clases y acceso a datos, lo que contribuyó a fortalecer las habilidades de programación y resolución de problemas. Además, fue posible identificar cómo la integración de Angular y </a:t>
            </a:r>
            <a:r>
              <a:rPr lang="es-MX" dirty="0" err="1"/>
              <a:t>Supabase</a:t>
            </a:r>
            <a:r>
              <a:rPr lang="es-MX" dirty="0"/>
              <a:t> facilita la construcción de aplicaciones dinámicas, organizadas y funcionales. Esta experiencia resultó valiosa porque permitió poner en práctica conocimientos teóricos en un proyecto real, desarrollando una mejor comprensión del proceso completo de creación y gestión de aplicaciones web.</a:t>
            </a:r>
          </a:p>
          <a:p>
            <a:pPr marL="0" indent="0">
              <a:buNone/>
            </a:pPr>
            <a:endParaRPr lang="es-MX" dirty="0"/>
          </a:p>
        </p:txBody>
      </p:sp>
    </p:spTree>
    <p:extLst>
      <p:ext uri="{BB962C8B-B14F-4D97-AF65-F5344CB8AC3E}">
        <p14:creationId xmlns:p14="http://schemas.microsoft.com/office/powerpoint/2010/main" val="2439402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68087-A39B-7DED-2554-8523CAED4FFF}"/>
              </a:ext>
            </a:extLst>
          </p:cNvPr>
          <p:cNvSpPr>
            <a:spLocks noGrp="1"/>
          </p:cNvSpPr>
          <p:nvPr>
            <p:ph type="title"/>
          </p:nvPr>
        </p:nvSpPr>
        <p:spPr/>
        <p:txBody>
          <a:bodyPr/>
          <a:lstStyle/>
          <a:p>
            <a:r>
              <a:rPr lang="es-MX" dirty="0"/>
              <a:t>ANEXO ENLACE DE GIT</a:t>
            </a:r>
          </a:p>
        </p:txBody>
      </p:sp>
      <p:sp>
        <p:nvSpPr>
          <p:cNvPr id="3" name="Marcador de contenido 2">
            <a:extLst>
              <a:ext uri="{FF2B5EF4-FFF2-40B4-BE49-F238E27FC236}">
                <a16:creationId xmlns:a16="http://schemas.microsoft.com/office/drawing/2014/main" id="{184DFA20-F56E-330B-9105-B9C16A5EFA49}"/>
              </a:ext>
            </a:extLst>
          </p:cNvPr>
          <p:cNvSpPr>
            <a:spLocks noGrp="1"/>
          </p:cNvSpPr>
          <p:nvPr>
            <p:ph idx="1"/>
          </p:nvPr>
        </p:nvSpPr>
        <p:spPr/>
        <p:txBody>
          <a:bodyPr/>
          <a:lstStyle/>
          <a:p>
            <a:r>
              <a:rPr lang="es-MX" dirty="0">
                <a:hlinkClick r:id="rId2"/>
              </a:rPr>
              <a:t>https://github.com/reynaldomorales1731-tech/PW-ISC8M.git</a:t>
            </a:r>
            <a:endParaRPr lang="es-MX" dirty="0"/>
          </a:p>
          <a:p>
            <a:endParaRPr lang="es-MX" dirty="0"/>
          </a:p>
          <a:p>
            <a:endParaRPr lang="es-MX"/>
          </a:p>
          <a:p>
            <a:endParaRPr lang="es-MX"/>
          </a:p>
        </p:txBody>
      </p:sp>
    </p:spTree>
    <p:extLst>
      <p:ext uri="{BB962C8B-B14F-4D97-AF65-F5344CB8AC3E}">
        <p14:creationId xmlns:p14="http://schemas.microsoft.com/office/powerpoint/2010/main" val="3627274281"/>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1596</TotalTime>
  <Words>783</Words>
  <Application>Microsoft Office PowerPoint</Application>
  <PresentationFormat>Panorámica</PresentationFormat>
  <Paragraphs>34</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Calibri Light</vt:lpstr>
      <vt:lpstr>Retrospección</vt:lpstr>
      <vt:lpstr>Presentación de PowerPoint</vt:lpstr>
      <vt:lpstr>INTRODUCCIÓN</vt:lpstr>
      <vt:lpstr>JUSTIFICACIÓN</vt:lpstr>
      <vt:lpstr>EJERCICIO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 PERSONAL</vt:lpstr>
      <vt:lpstr>ANEXO ENLACE DE GIT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MORALES SILVA REYNALDO FELIPE</dc:creator>
  <cp:lastModifiedBy>MORALES SILVA REYNALDO FELIPE</cp:lastModifiedBy>
  <cp:revision>4</cp:revision>
  <dcterms:created xsi:type="dcterms:W3CDTF">2026-06-10T23:17:15Z</dcterms:created>
  <dcterms:modified xsi:type="dcterms:W3CDTF">2026-06-12T02:18:44Z</dcterms:modified>
</cp:coreProperties>
</file>